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9144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200" b="1">
                <a:solidFill>
                  <a:srgbClr val="5A9E50"/>
                </a:solidFill>
                <a:latin typeface="Calibri"/>
              </a:rPr>
              <a:t>VÍDEO-PITCH STARTUP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8229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GovFlow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918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B8D9B2"/>
                </a:solidFill>
                <a:latin typeface="Calibri"/>
              </a:rPr>
              <a:t>Automação Inteligente de Processos Governamentais para Contadores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8FB089"/>
                </a:solidFill>
                <a:latin typeface="Calibri"/>
              </a:rPr>
              <a:t>Startup One — FIAP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63440"/>
            <a:ext cx="201168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Problema e Solução · Mercado e Concorrentes · Produto · Go to Market · Road Map ·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84848"/>
            <a:ext cx="12191695" cy="38100"/>
          </a:xfrm>
          <a:prstGeom prst="rect">
            <a:avLst/>
          </a:prstGeom>
          <a:solidFill>
            <a:srgbClr val="3D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O Problema e 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Automação de ponta a ponta para escritórios de contabilidade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A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0:10 – 0:45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2/10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5349240" cy="365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488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O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3D1A"/>
                </a:solidFill>
                <a:latin typeface="Calibri"/>
              </a:rPr>
              <a:t>Roberto, contador PJ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91256"/>
            <a:ext cx="82296" cy="82296"/>
          </a:xfrm>
          <a:prstGeom prst="roundRect">
            <a:avLst>
              <a:gd name="adj" fmla="val 100000"/>
            </a:avLst>
          </a:prstGeom>
          <a:solidFill>
            <a:srgbClr val="6B7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4434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Perde boa parte do tempo útil do escritório em trabalho manual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68496"/>
            <a:ext cx="82296" cy="82296"/>
          </a:xfrm>
          <a:prstGeom prst="roundRect">
            <a:avLst>
              <a:gd name="adj" fmla="val 100000"/>
            </a:avLst>
          </a:prstGeom>
          <a:solidFill>
            <a:srgbClr val="6B7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886200"/>
            <a:ext cx="4434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Triagem de documentos, redigitação de dados, protocolo em portais como o Redesim e o e-CAC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45736"/>
            <a:ext cx="82296" cy="82296"/>
          </a:xfrm>
          <a:prstGeom prst="roundRect">
            <a:avLst>
              <a:gd name="adj" fmla="val 100000"/>
            </a:avLst>
          </a:prstGeom>
          <a:solidFill>
            <a:srgbClr val="6B7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63440"/>
            <a:ext cx="4434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Um processo que leva em média 40 minutos por abertura de empresa — e se repete a cada cliente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874520"/>
            <a:ext cx="5349240" cy="3657600"/>
          </a:xfrm>
          <a:prstGeom prst="roundRect">
            <a:avLst>
              <a:gd name="adj" fmla="val 45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0" y="2148840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A SOLUÇÃO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60604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3D1A"/>
                </a:solidFill>
                <a:latin typeface="Calibri"/>
              </a:rPr>
              <a:t>GovFlow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1089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108960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Contador envia um documento pelo webchat ou pelo portal — login validado contra o banco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675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675888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IA extrai CNPJ, Razão Social e sócios em segundos, direto do documento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2428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242816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Robô preenche o portal do governo e devolve o protocolo, exibido na própria tela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0974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809744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Processo cai de ~40 minutos para poucos minutos, com histórico completo gravado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Mercado, Proposta de Valor e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Detalhes do negócio — segmento, proposta de valor e modelo de receita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B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0:45 – 1:20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3/10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111556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5A27"/>
                </a:solidFill>
                <a:latin typeface="Calibri"/>
              </a:rPr>
              <a:t>SEGMENTO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50008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Escritórios de contabilidade de pequeno/médio porte no Brasil — persona Roberto, sócio-diretor responsável por múltiplos clientes PJ, que perde tempo útil em trabalho manual de triagem, digitação e protocolo em portais governamentais (Redesim, e-CAC).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57600"/>
            <a:ext cx="11155680" cy="1188720"/>
          </a:xfrm>
          <a:prstGeom prst="roundRect">
            <a:avLst>
              <a:gd name="adj" fmla="val 4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2219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5A27"/>
                </a:solidFill>
                <a:latin typeface="Calibri"/>
              </a:rPr>
              <a:t>PROPOSTA DE VALOR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148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Transforma um processo manual de ~40 minutos em um fluxo conversacional de poucos minutos — cada automação já nasce registrando o tempo economizado, prova de ROI mensurável desde o primeiro uso.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7492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5A27"/>
                </a:solidFill>
                <a:latin typeface="Calibri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C68"/>
                </a:solidFill>
                <a:latin typeface="Calibri"/>
              </a:rPr>
              <a:t>5 documentos/mês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07492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5A27"/>
                </a:solidFill>
                <a:latin typeface="Calibri"/>
              </a:rPr>
              <a:t>Pro — R$ 299/mês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5577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C68"/>
                </a:solidFill>
                <a:latin typeface="Calibri"/>
              </a:rPr>
              <a:t>100 documentos/mês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507492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5A27"/>
                </a:solidFill>
                <a:latin typeface="Calibri"/>
              </a:rPr>
              <a:t>Lançamento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577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C68"/>
                </a:solidFill>
                <a:latin typeface="Calibri"/>
              </a:rPr>
              <a:t>Onboarding grátis p/ 50 escritórios-piloto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Concorrentes e Diferenciais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>Nenhum concorrente direto encontrado — espaço em branco real de mercado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B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1:20 – 1:55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4/10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476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ERPs contábeis tradicionais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9476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B8D9B2"/>
                </a:solidFill>
                <a:latin typeface="Calibri"/>
              </a:rPr>
              <a:t>Domínio, Alterdata, Questor, SCI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194767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9E50"/>
                </a:solidFill>
                <a:latin typeface="Calibri"/>
              </a:rPr>
              <a:t>Sem IA conversacional nem RPA ponta a ponta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620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Captura/robótica pontual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8620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B8D9B2"/>
                </a:solidFill>
                <a:latin typeface="Calibri"/>
              </a:rPr>
              <a:t>e-Auditoria, Robolabs, Altersystem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86207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9E50"/>
                </a:solidFill>
                <a:latin typeface="Calibri"/>
              </a:rPr>
              <a:t>Só arquivos já estruturados (XML/DARF)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764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Gestão/BI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7764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B8D9B2"/>
                </a:solidFill>
                <a:latin typeface="Calibri"/>
              </a:rPr>
              <a:t>Nibo, HubCount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9E50"/>
                </a:solidFill>
                <a:latin typeface="Calibri"/>
              </a:rPr>
              <a:t>Foco em gestão financeira, não em RPA de portal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63440"/>
            <a:ext cx="11155680" cy="1371600"/>
          </a:xfrm>
          <a:prstGeom prst="roundRect">
            <a:avLst>
              <a:gd name="adj" fmla="val 5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2803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Diferenciais do GovFlow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6636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11A0F"/>
                </a:solidFill>
                <a:latin typeface="Calibri"/>
              </a:rPr>
              <a:t>Hub conversacional como porta de entrada  ·  IA lê documentos não estruturados  ·  Confirmação humana antes de agir no portal  ·  Cobre Redesim + e-CAC num só painel  ·  Freemium acessível (R$ 299/mês) vs. ERPs corporativos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Projeções Financeiras e Breakeven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Unit economics e ponto de equilíbrio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B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1:55 – 2:35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5/10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R$ 219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Margem de Contribuição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por cliente do plano Pro/mês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R$ 250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CAC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custo de aquisição por cliente pago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15,77×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LTV / CAC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saudável — benchmark é &gt; 3×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4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0684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Mês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Breakeven Operacional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18 clientes pagos ativos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72000"/>
            <a:ext cx="11155680" cy="1417320"/>
          </a:xfrm>
          <a:prstGeom prst="roundRect">
            <a:avLst>
              <a:gd name="adj" fmla="val 4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736592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Breakeven = Custo Fixo (R$ 3.800) ÷ Margem de Contribuição (R$ 219) = 17,35 ≈ 18 clientes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11A0F"/>
                </a:solidFill>
                <a:latin typeface="Calibri"/>
              </a:rPr>
              <a:t>Breakeven operacional no Mês 3, conforme a meta. O fluxo de caixa acumulado se aproxima do equilíbrio ao final do Mês 6 (-R$ 3.735) e projeta breakeven de caixa por volta do Mês 8 — padrão esperado e saudável para uma startup SaaS em estágio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Produto — 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>Do documento ao protocolo, com IA e RPA reais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C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2:35 – 3:20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6/10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3177540" cy="1691640"/>
          </a:xfrm>
          <a:prstGeom prst="roundRect">
            <a:avLst>
              <a:gd name="adj" fmla="val 7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057400"/>
            <a:ext cx="384048" cy="384048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1E3D1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569464"/>
            <a:ext cx="28117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Envio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880360"/>
            <a:ext cx="28117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B8D9B2"/>
                </a:solidFill>
                <a:latin typeface="Calibri"/>
              </a:rPr>
              <a:t>Documento pelo webchat ou portal (login real via banco).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63340" y="1874520"/>
            <a:ext cx="3177540" cy="1691640"/>
          </a:xfrm>
          <a:prstGeom prst="roundRect">
            <a:avLst>
              <a:gd name="adj" fmla="val 7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64508" y="2057400"/>
            <a:ext cx="384048" cy="384048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1E3D1A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4508" y="2569464"/>
            <a:ext cx="28117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Extração (IA)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4508" y="2880360"/>
            <a:ext cx="28117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B8D9B2"/>
                </a:solidFill>
                <a:latin typeface="Calibri"/>
              </a:rPr>
              <a:t>OCR + NLP lê CNPJ, Razão Social, Capital, sócios.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177540" cy="1691640"/>
          </a:xfrm>
          <a:prstGeom prst="roundRect">
            <a:avLst>
              <a:gd name="adj" fmla="val 7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3886200"/>
            <a:ext cx="384048" cy="384048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1E3D1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98264"/>
            <a:ext cx="28117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Confirmação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709160"/>
            <a:ext cx="28117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B8D9B2"/>
                </a:solidFill>
                <a:latin typeface="Calibri"/>
              </a:rPr>
              <a:t>Usuário revisa e clica em "Enviar ao Gov.br".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63340" y="3703320"/>
            <a:ext cx="3177540" cy="1691640"/>
          </a:xfrm>
          <a:prstGeom prst="roundRect">
            <a:avLst>
              <a:gd name="adj" fmla="val 7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64508" y="3886200"/>
            <a:ext cx="384048" cy="384048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1E3D1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4508" y="4398264"/>
            <a:ext cx="28117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RPA + Protocolo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508" y="4709160"/>
            <a:ext cx="28117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B8D9B2"/>
                </a:solidFill>
                <a:latin typeface="Calibri"/>
              </a:rPr>
              <a:t>Robô preenche o portal e devolve o protocolo.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23560"/>
            <a:ext cx="6537960" cy="1051560"/>
          </a:xfrm>
          <a:prstGeom prst="roundRect">
            <a:avLst>
              <a:gd name="adj" fmla="val 6000"/>
            </a:avLst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60720"/>
            <a:ext cx="6080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9E50"/>
                </a:solidFill>
                <a:latin typeface="Calibri"/>
              </a:rPr>
              <a:t>Dois robôs de RPA no mesmo painel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080760"/>
            <a:ext cx="6080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Redesim (Node.js/Puppeteer) para abertura de empresa, e Consulta e-CAC (Python/Playwright) para declaração de IR — ambos com confirmação humana antes de agir.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06056" y="1819656"/>
            <a:ext cx="4407408" cy="381592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plic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874520"/>
            <a:ext cx="4297680" cy="370619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60920" y="5717878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B8D9B2"/>
                </a:solidFill>
                <a:latin typeface="Calibri"/>
              </a:rPr>
              <a:t>Dashboard real: extração por IA e RPA em 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Go to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Estratégia de entrada no mercado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D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3:20 – 3:50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7/10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0391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Hub Claro / WhatsApp 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4231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Ponto de entrada com distribuição via base corporativa da operadora, sem custo de mídia paga.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87452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20391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Marketing direto (SEO/conteúdo)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231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Conteúdo educativo para buscas como "automação para escritório de contabilidade".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Parcerias institucionais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06908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CRCs (Conselhos Regionais de Contabilidade) e sindicatos de classe.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352044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8503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Programa de indicação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406908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Contadores clientes indicam colegas, com benefício em documentos extras.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94960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D5A27"/>
                </a:solidFill>
                <a:latin typeface="Calibri"/>
              </a:rPr>
              <a:t>Promoção de lançamento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11A0F"/>
                </a:solidFill>
                <a:latin typeface="Calibri"/>
              </a:rPr>
              <a:t>Onboarding assistido gratuito para os primeiros 50 escritórios-piloto — acelera a curva de aprendizado e gera early adopters vocais.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Road Map —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>O que já está pronto e o que vem a 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E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3:50 – 4:15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8/10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9E50"/>
                </a:solidFill>
                <a:latin typeface="Calibri"/>
              </a:rPr>
              <a:t>Já entregue desde a última fase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8D9B2"/>
                </a:solidFill>
                <a:latin typeface="Calibri"/>
              </a:rPr>
              <a:t>Segundo robô (e-CAC) · Login real via banco · Gestão de usuários/clientes · Histórico com CNPJ/Razão Social · ROI e cota SaaS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8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1363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WhatsApp Business API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2044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Canal conversacional real — o contrato de eventos já está pronto.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9718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31363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Fila assíncrona real (Redis/BullMQ)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352044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No lugar do barramento em memória atual.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Front-end em React/Tailwind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Hoje funcional em HTML/JS vanilla.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461772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Extração de atos societários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Além de CNPJ/Razão Social/Capital Social — constituição, alterações, transformação.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Time e Disponibilidade NEXT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Quem desenvolveu o GovFlow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F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4:15 – 4:45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9/10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1828800"/>
            <a:ext cx="30175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40" y="2148840"/>
            <a:ext cx="2194560" cy="2194560"/>
          </a:xfrm>
          <a:prstGeom prst="ellipse">
            <a:avLst/>
          </a:prstGeom>
          <a:solidFill>
            <a:srgbClr val="DCEFD9"/>
          </a:solidFill>
          <a:ln w="19050">
            <a:solidFill>
              <a:srgbClr val="2D5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3D1A"/>
                </a:solidFill>
                <a:latin typeface="Calibri"/>
              </a:rPr>
              <a:t>[FOTO]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434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Pedro Henrique Amancio Lopes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6B7C68"/>
                </a:solidFill>
                <a:latin typeface="Calibri"/>
              </a:rPr>
              <a:t>RM551682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1828800"/>
            <a:ext cx="30175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23560" y="2148840"/>
            <a:ext cx="2194560" cy="2194560"/>
          </a:xfrm>
          <a:prstGeom prst="ellipse">
            <a:avLst/>
          </a:prstGeom>
          <a:solidFill>
            <a:srgbClr val="DCEFD9"/>
          </a:solidFill>
          <a:ln w="19050">
            <a:solidFill>
              <a:srgbClr val="2D5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3D1A"/>
                </a:solidFill>
                <a:latin typeface="Calibri"/>
              </a:rPr>
              <a:t>[FOTO]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434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Felipe Vazamim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6B7C68"/>
                </a:solidFill>
                <a:latin typeface="Calibri"/>
              </a:rPr>
              <a:t>RM97856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03520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Disponibilidade para o NEXT 2026 (24/10/2026, Arca, São Paulo-SP)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11A0F"/>
                </a:solidFill>
                <a:latin typeface="Calibri"/>
              </a:rPr>
              <a:t>Não, infelizmente não conseguiremos expor no NEXT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GovFlow AI — Estado Atual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84048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4:45 – 5:00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10/10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Dois robôs de RPA reais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Redesim (Puppeteer) e Consulta e-CAC (Playwright), ambos com confirmação humana.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Gestão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Usuários por escritório, clientes do e-CAC, histórico com CNPJ/Razão Social.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Requests reais na nuvem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Gravação e leitura de dados demonstradas contra o PostgreSQL no Neon.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Unit economics saudável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LTV/CAC de 15,77× e breakeven operacional no Mês 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1">
                <a:solidFill>
                  <a:srgbClr val="5A9E50"/>
                </a:solidFill>
                <a:latin typeface="Calibri"/>
              </a:rPr>
              <a:t>GovFlow AI — menos tempo em portal, mais tempo com o cliente. 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