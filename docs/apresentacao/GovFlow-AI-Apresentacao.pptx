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4572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DCEFD9"/>
                </a:solidFill>
                <a:latin typeface="Segoe UI"/>
              </a:rPr>
              <a:t>GOVTECH · RPA + IA + NUVEM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945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GovFlow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DCEFD9"/>
                </a:solidFill>
                <a:latin typeface="Segoe UI"/>
              </a:rPr>
              <a:t>Automação Inteligente de Processos Governamentais para Contadores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B9CCB6"/>
                </a:solidFill>
                <a:latin typeface="Segoe UI"/>
              </a:rPr>
              <a:t>Hub de Convergência  →  OCR/NLP  →  RPA  →  Banco em Nuvem  →  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257800"/>
            <a:ext cx="777240" cy="27432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Startup One (FIAP), Fase 5 — Documentação e Protótipo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B9CCB6"/>
                </a:solidFill>
                <a:latin typeface="Segoe UI"/>
              </a:rPr>
              <a:t>MVP com programação real de ponta a ponta — ~80% de conclusão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D1A"/>
                </a:solidFill>
                <a:latin typeface="Segoe UI"/>
              </a:rPr>
              <a:t>O Que Evoluiu Desde a Última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6A57"/>
                </a:solidFill>
                <a:latin typeface="Segoe UI"/>
              </a:rPr>
              <a:t>De prova de conceito a MVP funcional de ponta a ponta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A57"/>
                </a:solidFill>
                <a:latin typeface="Segoe UI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5A6A57"/>
                </a:solidFill>
                <a:latin typeface="Segoe UI"/>
              </a:rPr>
              <a:t>○  1 rota síncrona, sem fila nem eventos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A6A57"/>
                </a:solidFill>
                <a:latin typeface="Segoe UI"/>
              </a:rPr>
              <a:t>○  Robô RPA funcional, mas sem tratamento de exceções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A6A57"/>
                </a:solidFill>
                <a:latin typeface="Segoe UI"/>
              </a:rPr>
              <a:t>○  Nenhuma persistência de dados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A6A57"/>
                </a:solidFill>
                <a:latin typeface="Segoe UI"/>
              </a:rPr>
              <a:t>○  Nenhuma autenticação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A6A57"/>
                </a:solidFill>
                <a:latin typeface="Segoe UI"/>
              </a:rPr>
              <a:t>○  Dashboard 100% mockado (dados fixos)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57800" cy="3931920"/>
          </a:xfrm>
          <a:prstGeom prst="roundRect">
            <a:avLst>
              <a:gd name="adj" fmla="val 4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5A27"/>
                </a:solidFill>
                <a:latin typeface="Segoe UI"/>
              </a:rPr>
              <a:t>AGORA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1E3D1A"/>
                </a:solidFill>
                <a:latin typeface="Segoe UI"/>
              </a:rPr>
              <a:t>✓  Hub conversacional + eventos em tempo real (SSE)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3D1A"/>
                </a:solidFill>
                <a:latin typeface="Segoe UI"/>
              </a:rPr>
              <a:t>✓  RPA com tratamento de exceções por categoria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3D1A"/>
                </a:solidFill>
                <a:latin typeface="Segoe UI"/>
              </a:rPr>
              <a:t>✓  Banco de dados real (Star Schema) na nuvem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3D1A"/>
                </a:solidFill>
                <a:latin typeface="Segoe UI"/>
              </a:rPr>
              <a:t>✓  SSO real, isolamento multi-tenant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3D1A"/>
                </a:solidFill>
                <a:latin typeface="Segoe UI"/>
              </a:rPr>
              <a:t>✓  Dashboard consumindo o pipeline real, com confirmação humana antes do robô agir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4023360"/>
            <a:ext cx="320040" cy="0"/>
          </a:xfrm>
          <a:prstGeom prst="line">
            <a:avLst/>
          </a:prstGeom>
          <a:ln w="38100">
            <a:solidFill>
              <a:srgbClr val="2D5A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A57"/>
                </a:solidFill>
                <a:latin typeface="Segoe UI"/>
              </a:rPr>
              <a:t>GovFlow AI — Startup One (FIAP), Fase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A5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D1A"/>
                </a:solidFill>
                <a:latin typeface="Segoe UI"/>
              </a:rPr>
              <a:t>Arquitetura Geral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6A57"/>
                </a:solidFill>
                <a:latin typeface="Segoe UI"/>
              </a:rPr>
              <a:t>Três camadas, agora com banco de dados em nuvem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CAMADA 1 — HUB DE CONVERGÊNCIA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DCEFD9"/>
                </a:solidFill>
                <a:latin typeface="Segoe UI"/>
              </a:rPr>
              <a:t>Webchat  +  Portal Web (SSO)  +  Webhooks/API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3401568"/>
            <a:ext cx="0" cy="301752"/>
          </a:xfrm>
          <a:prstGeom prst="line">
            <a:avLst/>
          </a:prstGeom>
          <a:ln w="31750">
            <a:solidFill>
              <a:srgbClr val="2D5A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730752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3D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CAMADA 2 — APLICAÇÃO (BACKEND / 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8795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Motor OCR/NLP (Python)  +  Motor RPA (Puppeteer)  +  Banco em Nuvem — PostgreSQL/Neon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983480"/>
            <a:ext cx="0" cy="301752"/>
          </a:xfrm>
          <a:prstGeom prst="line">
            <a:avLst/>
          </a:prstGeom>
          <a:ln w="31750">
            <a:solidFill>
              <a:srgbClr val="2D5A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5312664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E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04103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CAMADA 3 — PAINEL DE GESTÃO /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69864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5F5DC"/>
                </a:solidFill>
                <a:latin typeface="Segoe UI"/>
              </a:rPr>
              <a:t>Upload + Processamento Real  +  Dados Extraídos  +  Confirmação de Envio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A57"/>
                </a:solidFill>
                <a:latin typeface="Segoe UI"/>
              </a:rPr>
              <a:t>GovFlow AI — Startup One (FIAP), Fase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A5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DECISÃO DE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Segoe UI"/>
              </a:rPr>
              <a:t>Automação com Controle Humano — Não Só Automação Cega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244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9E50"/>
                </a:solidFill>
                <a:latin typeface="Segoe UI"/>
              </a:rPr>
              <a:t>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400" b="0">
                <a:solidFill>
                  <a:srgbClr val="F5F5DC"/>
                </a:solidFill>
                <a:latin typeface="Segoe UI"/>
              </a:rPr>
              <a:t>—  Antes, o robô era acionado automaticamente assim que a IA terminava de ler o documento.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F5F5DC"/>
                </a:solidFill>
                <a:latin typeface="Segoe UI"/>
              </a:rPr>
              <a:t>—  Acionar um robô contra o portal do governo é uma ação real e de baixa reversibilidade.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F5F5DC"/>
                </a:solidFill>
                <a:latin typeface="Segoe UI"/>
              </a:rPr>
              <a:t>—  O usuário não tinha a chance de conferir os dados extraídos antes do envio acontecer.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486400" cy="4206240"/>
          </a:xfrm>
          <a:prstGeom prst="roundRect">
            <a:avLst>
              <a:gd name="adj" fmla="val 5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5A27"/>
                </a:solidFill>
                <a:latin typeface="Segoe UI"/>
              </a:rPr>
              <a:t>A SOLUÇÃO IMPLEMENTADA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2D5A27"/>
                </a:solidFill>
                <a:latin typeface="Segoe UI"/>
              </a:rPr>
              <a:t>—  Extrair dados  </a:t>
            </a:r>
            <a:r>
              <a:rPr sz="1400" b="0">
                <a:solidFill>
                  <a:srgbClr val="1E3D1A"/>
                </a:solidFill>
                <a:latin typeface="Segoe UI"/>
              </a:rPr>
              <a:t>é automático — IA lê o documento e mostra o resultado na hora.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2D5A27"/>
                </a:solidFill>
                <a:latin typeface="Segoe UI"/>
              </a:rPr>
              <a:t>—  Acionar o robô  </a:t>
            </a:r>
            <a:r>
              <a:rPr sz="1400" b="0">
                <a:solidFill>
                  <a:srgbClr val="1E3D1A"/>
                </a:solidFill>
                <a:latin typeface="Segoe UI"/>
              </a:rPr>
              <a:t>exige um clique explícito do usuário em "Enviar ao Gov.br", depois de revisar os dados.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2D5A27"/>
                </a:solidFill>
                <a:latin typeface="Segoe UI"/>
              </a:rPr>
              <a:t>—  Isolamento multi-tenant  </a:t>
            </a:r>
            <a:r>
              <a:rPr sz="1400" b="0">
                <a:solidFill>
                  <a:srgbClr val="1E3D1A"/>
                </a:solidFill>
                <a:latin typeface="Segoe UI"/>
              </a:rPr>
              <a:t>garante que só o próprio escritório pode confirmar suas automações.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9CCB6"/>
                </a:solidFill>
                <a:latin typeface="Segoe UI"/>
              </a:rPr>
              <a:t>GovFlow AI — Startup One (FIAP), Fase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9CCB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D1A"/>
                </a:solidFill>
                <a:latin typeface="Segoe UI"/>
              </a:rPr>
              <a:t>Tecnologias Adotadas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6A57"/>
                </a:solidFill>
                <a:latin typeface="Segoe UI"/>
              </a:rPr>
              <a:t>Stack de desenvolvimento e ferramentas de apoio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73152" cy="210312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Linguagem &amp;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0048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JavaScript (Node.js)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Python 3.12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HTML5 / CSS3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73152" cy="210312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24942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Framework &amp; Middlewares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0048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Express 5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FastAPI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Multer, CORS, dotenv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1031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2103120"/>
            <a:ext cx="73152" cy="210312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224942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IA /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2670048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Tesseract OCR + OpenCV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Extração por Regex + validação de CNPJ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73152" cy="210312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8114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Automação (RPA)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01768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Puppeteer / Chromium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Tratamento de exceções por categoria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43484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434840"/>
            <a:ext cx="73152" cy="210312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458114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Banco de Dados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5001768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PostgreSQL — Neon (nuvem)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Star Schema (1 fato + 5 dimensões)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43484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4434840"/>
            <a:ext cx="73152" cy="210312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1" y="458114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Apoio ao Desenvolvimento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1" y="5001768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Visual Studio Code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Claude Code (par de programação IA)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11A0F"/>
                </a:solidFill>
                <a:latin typeface="Segoe UI"/>
              </a:rPr>
              <a:t>•  Documentação em Markdown (PRD + Tech Spec)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A57"/>
                </a:solidFill>
                <a:latin typeface="Segoe UI"/>
              </a:rPr>
              <a:t>GovFlow AI — Startup One (FIAP), Fase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A5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D1A"/>
                </a:solidFill>
                <a:latin typeface="Segoe UI"/>
              </a:rPr>
              <a:t>Estado Atual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6A57"/>
                </a:solidFill>
                <a:latin typeface="Segoe UI"/>
              </a:rPr>
              <a:t>9 funcionalidades mapeadas — progresso real de implementação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13432"/>
            <a:ext cx="31181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D5A27"/>
                </a:solidFill>
                <a:latin typeface="Segoe UI"/>
              </a:rPr>
              <a:t>Camada 1 — Hub de Convergência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260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Interface Conversacional (Webchat)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26080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7" y="3236976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7" y="3236976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429000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Implementado e testado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Portal Web / 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959352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4270248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4270248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462272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Implementado e testado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99262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Webhooks e APIs (fila real)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992624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7" y="5303520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5303520"/>
            <a:ext cx="935431" cy="146304"/>
          </a:xfrm>
          <a:prstGeom prst="roundRect">
            <a:avLst>
              <a:gd name="adj" fmla="val 50000"/>
            </a:avLst>
          </a:prstGeom>
          <a:solidFill>
            <a:srgbClr val="B8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495544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Stand-in em memória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148840"/>
            <a:ext cx="352044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2313432"/>
            <a:ext cx="31181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D5A27"/>
                </a:solidFill>
                <a:latin typeface="Segoe UI"/>
              </a:rPr>
              <a:t>Camada 2 — Aplicação (Core)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9260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Motor de OCR / NLP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2926080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100%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8" y="3236976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44568" y="3236976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429000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Python real — testado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9593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Motor de Automação RPA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3959352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90%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44568" y="4270248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44568" y="4270248"/>
            <a:ext cx="2806293" cy="146304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4462272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Real + confirmação humana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99262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Banco de Dados (Nuvem)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992624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100%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44568" y="5303520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44568" y="5303520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44568" y="5495544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PostgreSQL/Neon — Star Schema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2148840"/>
            <a:ext cx="352044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313432"/>
            <a:ext cx="31181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D5A27"/>
                </a:solidFill>
                <a:latin typeface="Segoe UI"/>
              </a:rPr>
              <a:t>Camada 3 — Painel de Gestão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29260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Upload + Processamento Real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2926080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100%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47888" y="3236976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47888" y="3236976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3429000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Integrado ao pipeline real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9593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Status Board (histórico)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3959352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30%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47888" y="4270248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47888" y="4270248"/>
            <a:ext cx="935431" cy="146304"/>
          </a:xfrm>
          <a:prstGeom prst="roundRect">
            <a:avLst>
              <a:gd name="adj" fmla="val 50000"/>
            </a:avLst>
          </a:prstGeom>
          <a:solidFill>
            <a:srgbClr val="B8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7888" y="4462272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Falta lista histórica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499262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A0F"/>
                </a:solidFill>
                <a:latin typeface="Segoe UI"/>
              </a:rPr>
              <a:t>Gráficos de ROI / SaaS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4992624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5A27"/>
                </a:solidFill>
                <a:latin typeface="Segoe UI"/>
              </a:rPr>
              <a:t>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47888" y="5303520"/>
            <a:ext cx="3118104" cy="146304"/>
          </a:xfrm>
          <a:prstGeom prst="roundRect">
            <a:avLst>
              <a:gd name="adj" fmla="val 50000"/>
            </a:avLst>
          </a:prstGeom>
          <a:solidFill>
            <a:srgbClr val="C8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47888" y="5303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4BC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5495544"/>
            <a:ext cx="3118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A57"/>
                </a:solidFill>
                <a:latin typeface="Segoe UI"/>
              </a:rPr>
              <a:t>Não iniciado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A57"/>
                </a:solidFill>
                <a:latin typeface="Segoe UI"/>
              </a:rPr>
              <a:t>GovFlow AI — Startup One (FIAP), Fase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A5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D1A"/>
                </a:solidFill>
                <a:latin typeface="Segoe UI"/>
              </a:rPr>
              <a:t>Viabilidade Financeira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6A57"/>
                </a:solidFill>
                <a:latin typeface="Segoe UI"/>
              </a:rPr>
              <a:t>Unit economics saudável e breakeven operacional no Mês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D5A27"/>
                </a:solidFill>
                <a:latin typeface="Segoe UI"/>
              </a:rPr>
              <a:t>R$ 219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Margem de Contribuição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204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A57"/>
                </a:solidFill>
                <a:latin typeface="Segoe UI"/>
              </a:rPr>
              <a:t>por cliente do plano Pro/mês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488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14884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D5A27"/>
                </a:solidFill>
                <a:latin typeface="Segoe UI"/>
              </a:rPr>
              <a:t>R$ 250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CAC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204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A57"/>
                </a:solidFill>
                <a:latin typeface="Segoe UI"/>
              </a:rPr>
              <a:t>custo de aquisição por cliente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14884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D5A27"/>
                </a:solidFill>
                <a:latin typeface="Segoe UI"/>
              </a:rPr>
              <a:t>R$ 3.942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LTV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204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A57"/>
                </a:solidFill>
                <a:latin typeface="Segoe UI"/>
              </a:rPr>
              <a:t>valor do tempo de vida (18 meses)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488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14884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4231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D5A27"/>
                </a:solidFill>
                <a:latin typeface="Segoe UI"/>
              </a:rPr>
              <a:t>15,77×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63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D1A"/>
                </a:solidFill>
                <a:latin typeface="Segoe UI"/>
              </a:rPr>
              <a:t>LTV / CAC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5204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A57"/>
                </a:solidFill>
                <a:latin typeface="Segoe UI"/>
              </a:rPr>
              <a:t>saudável — benchmark é &gt; 3×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091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D5A27"/>
                </a:solidFill>
                <a:latin typeface="Segoe UI"/>
              </a:rPr>
              <a:t>Breakeven Operacional = Custo Fixo (R$ 3.800) ÷ Margem de Contribuição (R$ 219) = 18 clientes pagos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6A57"/>
                </a:solidFill>
                <a:latin typeface="Segoe UI"/>
              </a:rPr>
              <a:t>Atingido na projeção no Mês 3 — fluxo de caixa acumulado se aproxima do equilíbrio por volta do Mês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A57"/>
                </a:solidFill>
                <a:latin typeface="Segoe UI"/>
              </a:rPr>
              <a:t>GovFlow AI — Startup One (FIAP), Fase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A5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D1A"/>
                </a:solidFill>
                <a:latin typeface="Segoe UI"/>
              </a:rPr>
              <a:t>Demonstração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A6A57"/>
                </a:solidFill>
                <a:latin typeface="Segoe UI"/>
              </a:rPr>
              <a:t>Do upload ao protocolo — pipeline real de ponta a ponta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377440"/>
            <a:ext cx="502920" cy="50292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63240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D1A"/>
                </a:solidFill>
                <a:latin typeface="Segoe UI"/>
              </a:rPr>
              <a:t>Upload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566160"/>
            <a:ext cx="22037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A57"/>
                </a:solidFill>
                <a:latin typeface="Segoe UI"/>
              </a:rPr>
              <a:t>Documento enviado no webchat ou no portal autenticado — validado por tipo e tamanho.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73551" y="3904487"/>
            <a:ext cx="146305" cy="0"/>
          </a:xfrm>
          <a:prstGeom prst="line">
            <a:avLst/>
          </a:prstGeom>
          <a:ln w="25400">
            <a:solidFill>
              <a:srgbClr val="5A9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47288" y="21488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8456" y="2377440"/>
            <a:ext cx="502920" cy="50292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3063240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D1A"/>
                </a:solidFill>
                <a:latin typeface="Segoe UI"/>
              </a:rPr>
              <a:t>OCR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566160"/>
            <a:ext cx="22037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A57"/>
                </a:solidFill>
                <a:latin typeface="Segoe UI"/>
              </a:rPr>
              <a:t>Tesseract + OpenCV leem o documento de verdade; dados aparecem no card "Dados Extraídos".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904487"/>
            <a:ext cx="146304" cy="0"/>
          </a:xfrm>
          <a:prstGeom prst="line">
            <a:avLst/>
          </a:prstGeom>
          <a:ln w="25400">
            <a:solidFill>
              <a:srgbClr val="5A9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54496" y="21488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55664" y="2377440"/>
            <a:ext cx="502920" cy="50292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63240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D1A"/>
                </a:solidFill>
                <a:latin typeface="Segoe UI"/>
              </a:rPr>
              <a:t>Confirmação humana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566160"/>
            <a:ext cx="22037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A57"/>
                </a:solidFill>
                <a:latin typeface="Segoe UI"/>
              </a:rPr>
              <a:t>Usuário revisa os dados e clica "Enviar ao Gov.br" — o robô só age depois disso.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87968" y="3904487"/>
            <a:ext cx="146304" cy="0"/>
          </a:xfrm>
          <a:prstGeom prst="line">
            <a:avLst/>
          </a:prstGeom>
          <a:ln w="25400">
            <a:solidFill>
              <a:srgbClr val="5A9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61704" y="2148840"/>
            <a:ext cx="26060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872" y="2377440"/>
            <a:ext cx="502920" cy="50292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3063240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D1A"/>
                </a:solidFill>
                <a:latin typeface="Segoe UI"/>
              </a:rPr>
              <a:t>Protocolo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566160"/>
            <a:ext cx="22037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A57"/>
                </a:solidFill>
                <a:latin typeface="Segoe UI"/>
              </a:rPr>
              <a:t>Robô preenche o portal, captura o protocolo, e tudo fica registrado no banco em nuvem.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1">
                <a:solidFill>
                  <a:srgbClr val="2D5A27"/>
                </a:solidFill>
                <a:latin typeface="Segoe UI"/>
              </a:rPr>
              <a:t>🎥 Demonstração ao vivo em vídeo anexo.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A57"/>
                </a:solidFill>
                <a:latin typeface="Segoe UI"/>
              </a:rPr>
              <a:t>GovFlow AI — Startup One (FIAP), Fase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A5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7A35"/>
                </a:solidFill>
                <a:latin typeface="Segoe U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O Valor do GovFlow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De protótipo a MVP funcional de ponta a ponta, com banco de dados em nuvem, IA real e um robô que só age </a:t>
            </a:r>
            <a:r>
              <a:rPr sz="1600" b="1" i="0">
                <a:solidFill>
                  <a:srgbClr val="DCEFD9"/>
                </a:solidFill>
                <a:latin typeface="Segoe UI"/>
              </a:rPr>
              <a:t>com controle humano explícito.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244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"/>
              </a:rPr>
              <a:t>~80% do MVP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E4CC"/>
                </a:solidFill>
                <a:latin typeface="Segoe UI"/>
              </a:rPr>
              <a:t>Hub, SSO, OCR, RPA e banco em nuvem já rodam de ponta a ponta com programação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33756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244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333756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"/>
              </a:rPr>
              <a:t>Unit economics saudável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E4CC"/>
                </a:solidFill>
                <a:latin typeface="Segoe UI"/>
              </a:rPr>
              <a:t>LTV/CAC de 15,77× e breakeven operacional projetado para o Mês 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33756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244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9" y="333756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361188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"/>
              </a:rPr>
              <a:t>Arquitetura pronta para escalar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420624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E4CC"/>
                </a:solidFill>
                <a:latin typeface="Segoe UI"/>
              </a:rPr>
              <a:t>3 camadas desacopladas — trocar canal, OCR ou banco não exige reescrever o produto.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1">
                <a:solidFill>
                  <a:srgbClr val="5A9E50"/>
                </a:solidFill>
                <a:latin typeface="Segoe UI"/>
              </a:rPr>
              <a:t>GovFlow AI — menos tempo em portal, mais tempo com o cliente.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