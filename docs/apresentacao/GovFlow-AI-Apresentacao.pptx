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34" d="100"/>
          <a:sy n="134" d="100"/>
        </p:scale>
        <p:origin x="2679" y="9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989320"/>
            <a:ext cx="12191695" cy="45720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64008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DCEFD9"/>
                </a:solidFill>
                <a:latin typeface="Segoe UI"/>
              </a:rPr>
              <a:t>GOVTECH  ·  RPA +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3172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Segoe UI"/>
              </a:rPr>
              <a:t>GovFlow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DCEFD9"/>
                </a:solidFill>
                <a:latin typeface="Segoe UI"/>
              </a:rPr>
              <a:t>Automação Inteligente de Processos Governamentais para Contadores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9875520" cy="14542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50" b="0" i="1" dirty="0">
                <a:solidFill>
                  <a:srgbClr val="B9CCB6"/>
                </a:solidFill>
                <a:latin typeface="Segoe UI"/>
              </a:rPr>
              <a:t>Hub de </a:t>
            </a:r>
            <a:r>
              <a:rPr sz="1350" b="0" i="1" dirty="0" err="1">
                <a:solidFill>
                  <a:srgbClr val="B9CCB6"/>
                </a:solidFill>
                <a:latin typeface="Segoe UI"/>
              </a:rPr>
              <a:t>Convergência</a:t>
            </a:r>
            <a:r>
              <a:rPr sz="1350" b="0" i="1" dirty="0">
                <a:solidFill>
                  <a:srgbClr val="B9CCB6"/>
                </a:solidFill>
                <a:latin typeface="Segoe UI"/>
              </a:rPr>
              <a:t> com IA </a:t>
            </a:r>
            <a:r>
              <a:rPr sz="1350" b="0" i="1" dirty="0" err="1">
                <a:solidFill>
                  <a:srgbClr val="B9CCB6"/>
                </a:solidFill>
                <a:latin typeface="Segoe UI"/>
              </a:rPr>
              <a:t>Conversacional</a:t>
            </a:r>
            <a:r>
              <a:rPr sz="1350" b="0" i="1" dirty="0">
                <a:solidFill>
                  <a:srgbClr val="B9CCB6"/>
                </a:solidFill>
                <a:latin typeface="Segoe UI"/>
              </a:rPr>
              <a:t>  →  OCR/NLP  →  RPA  →  Dados de ROI</a:t>
            </a:r>
            <a:br>
              <a:rPr lang="pt-BR" sz="1350" i="1" dirty="0">
                <a:solidFill>
                  <a:srgbClr val="B9CCB6"/>
                </a:solidFill>
                <a:latin typeface="Segoe UI"/>
              </a:rPr>
            </a:br>
            <a:br>
              <a:rPr lang="pt-BR" sz="1350" i="1" dirty="0">
                <a:solidFill>
                  <a:srgbClr val="B9CCB6"/>
                </a:solidFill>
                <a:latin typeface="Segoe UI"/>
              </a:rPr>
            </a:br>
            <a:r>
              <a:rPr lang="pt-BR" sz="1350" b="1" i="1" dirty="0">
                <a:solidFill>
                  <a:srgbClr val="B9CCB6"/>
                </a:solidFill>
                <a:latin typeface="Segoe UI"/>
              </a:rPr>
              <a:t>LINK DO VÍDEO</a:t>
            </a:r>
          </a:p>
          <a:p>
            <a:r>
              <a:rPr lang="pt-BR" sz="1350" b="1" i="1" dirty="0">
                <a:solidFill>
                  <a:srgbClr val="B9CCB6"/>
                </a:solidFill>
                <a:latin typeface="Segoe UI"/>
              </a:rPr>
              <a:t>https://youtu.be/6ZcyyFfCCdE</a:t>
            </a:r>
          </a:p>
          <a:p>
            <a:endParaRPr lang="pt-BR" sz="1350" b="1" i="1" dirty="0">
              <a:solidFill>
                <a:srgbClr val="B9CCB6"/>
              </a:solidFill>
              <a:latin typeface="Segoe UI"/>
            </a:endParaRPr>
          </a:p>
          <a:p>
            <a:r>
              <a:rPr lang="pt-BR" sz="1350" b="1" i="1" dirty="0">
                <a:solidFill>
                  <a:srgbClr val="B9CCB6"/>
                </a:solidFill>
                <a:latin typeface="Segoe UI"/>
              </a:rPr>
              <a:t>Link GitHub</a:t>
            </a:r>
          </a:p>
          <a:p>
            <a:r>
              <a:rPr lang="pt-BR" sz="1350" b="1" i="1" dirty="0">
                <a:solidFill>
                  <a:srgbClr val="B9CCB6"/>
                </a:solidFill>
                <a:latin typeface="Segoe UI"/>
              </a:rPr>
              <a:t>https://github.com/pedroamancio06/govflowai</a:t>
            </a:r>
            <a:endParaRPr sz="1350" b="1" i="1" dirty="0">
              <a:solidFill>
                <a:srgbClr val="B9CCB6"/>
              </a:solidFill>
              <a:latin typeface="Segoe U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0080" y="5394960"/>
            <a:ext cx="777240" cy="27432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55321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Enterprise Challenge Claro  ×  Banca Final Startup One (FIAP)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978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B9CCB6"/>
                </a:solidFill>
                <a:latin typeface="Segoe UI"/>
              </a:rPr>
              <a:t>Progresso de desenvolvimento — versão de demonstração técnica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D7A35"/>
                </a:solidFill>
                <a:latin typeface="Segoe U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E3D1A"/>
                </a:solidFill>
                <a:latin typeface="Segoe U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A6A57"/>
                </a:solidFill>
                <a:latin typeface="Segoe UI"/>
              </a:rPr>
              <a:t>Escritórios de contabilidade perdem horas em tarefas manuais e repetitivas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1005840" cy="41148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1208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D7A35"/>
                </a:solidFill>
                <a:latin typeface="Segoe UI"/>
              </a:rPr>
              <a:t>PERSONA PRIMÁRIA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E3D1A"/>
                </a:solidFill>
                <a:latin typeface="Segoe UI"/>
              </a:rPr>
              <a:t>Roberto, contador PJ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46634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50" b="0">
                <a:solidFill>
                  <a:srgbClr val="111A0F"/>
                </a:solidFill>
                <a:latin typeface="Segoe UI"/>
              </a:rPr>
              <a:t>—  Responsável por múltiplos clientes empresariais</a:t>
            </a:r>
          </a:p>
          <a:p>
            <a:pPr>
              <a:spcAft>
                <a:spcPts val="1000"/>
              </a:spcAft>
            </a:pPr>
            <a:r>
              <a:rPr sz="1450" b="0">
                <a:solidFill>
                  <a:srgbClr val="111A0F"/>
                </a:solidFill>
                <a:latin typeface="Segoe UI"/>
              </a:rPr>
              <a:t>—  Preenche manualmente portais como Redesim, e-CAC e Juntas Comerciais</a:t>
            </a:r>
          </a:p>
          <a:p>
            <a:pPr>
              <a:spcAft>
                <a:spcPts val="1000"/>
              </a:spcAft>
            </a:pPr>
            <a:r>
              <a:rPr sz="1450" b="0">
                <a:solidFill>
                  <a:srgbClr val="111A0F"/>
                </a:solidFill>
                <a:latin typeface="Segoe UI"/>
              </a:rPr>
              <a:t>—  Baixa tolerância a fricção — quer resolver pelo WhatsApp, sem aprender ferramenta nova</a:t>
            </a:r>
          </a:p>
          <a:p>
            <a:pPr>
              <a:spcAft>
                <a:spcPts val="1000"/>
              </a:spcAft>
            </a:pPr>
            <a:r>
              <a:rPr sz="1450" b="0">
                <a:solidFill>
                  <a:srgbClr val="111A0F"/>
                </a:solidFill>
                <a:latin typeface="Segoe UI"/>
              </a:rPr>
              <a:t>—  Não tem hoje nenhuma métrica que prove quanto tempo está sendo economizado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057400"/>
            <a:ext cx="5349240" cy="4160520"/>
          </a:xfrm>
          <a:prstGeom prst="roundRect">
            <a:avLst>
              <a:gd name="adj" fmla="val 4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22860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D5A27"/>
                </a:solidFill>
                <a:latin typeface="Segoe UI"/>
              </a:rPr>
              <a:t>HIPÓTESE DE PRODUTO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4846320" cy="1431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0" i="0" dirty="0">
                <a:solidFill>
                  <a:srgbClr val="1E3D1A"/>
                </a:solidFill>
                <a:latin typeface="Segoe UI"/>
              </a:rPr>
              <a:t>Se o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contador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enviar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um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documento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por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um canal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conversacional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e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receber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,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em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minutos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, </a:t>
            </a:r>
            <a:r>
              <a:rPr sz="1550" b="1" i="0" dirty="0">
                <a:solidFill>
                  <a:srgbClr val="1E3D1A"/>
                </a:solidFill>
                <a:latin typeface="Segoe UI"/>
              </a:rPr>
              <a:t>o </a:t>
            </a:r>
            <a:r>
              <a:rPr sz="1550" b="1" i="0" dirty="0" err="1">
                <a:solidFill>
                  <a:srgbClr val="1E3D1A"/>
                </a:solidFill>
                <a:latin typeface="Segoe UI"/>
              </a:rPr>
              <a:t>protocolo</a:t>
            </a:r>
            <a:r>
              <a:rPr sz="1550" b="1" i="0" dirty="0">
                <a:solidFill>
                  <a:srgbClr val="1E3D1A"/>
                </a:solidFill>
                <a:latin typeface="Segoe UI"/>
              </a:rPr>
              <a:t> </a:t>
            </a:r>
            <a:r>
              <a:rPr sz="1550" b="1" i="0" dirty="0" err="1">
                <a:solidFill>
                  <a:srgbClr val="1E3D1A"/>
                </a:solidFill>
                <a:latin typeface="Segoe UI"/>
              </a:rPr>
              <a:t>gerado</a:t>
            </a:r>
            <a:r>
              <a:rPr sz="1550" b="1" i="0" dirty="0">
                <a:solidFill>
                  <a:srgbClr val="1E3D1A"/>
                </a:solidFill>
                <a:latin typeface="Segoe UI"/>
              </a:rPr>
              <a:t> </a:t>
            </a:r>
            <a:r>
              <a:rPr sz="1550" b="1" i="0" dirty="0" err="1">
                <a:solidFill>
                  <a:srgbClr val="1E3D1A"/>
                </a:solidFill>
                <a:latin typeface="Segoe UI"/>
              </a:rPr>
              <a:t>por</a:t>
            </a:r>
            <a:r>
              <a:rPr sz="1550" b="1" i="0" dirty="0">
                <a:solidFill>
                  <a:srgbClr val="1E3D1A"/>
                </a:solidFill>
                <a:latin typeface="Segoe UI"/>
              </a:rPr>
              <a:t> um </a:t>
            </a:r>
            <a:r>
              <a:rPr sz="1550" b="1" i="0" dirty="0" err="1">
                <a:solidFill>
                  <a:srgbClr val="1E3D1A"/>
                </a:solidFill>
                <a:latin typeface="Segoe UI"/>
              </a:rPr>
              <a:t>robô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que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preencheu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o portal do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governo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por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ele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com histórico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registrado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em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métricas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de ROI — o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escritório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reduz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tempo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operacional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e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ganha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visibilidade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que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hoje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não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E3D1A"/>
                </a:solidFill>
                <a:latin typeface="Segoe UI"/>
              </a:rPr>
              <a:t>existe</a:t>
            </a:r>
            <a:r>
              <a:rPr sz="1550" b="0" i="0" dirty="0">
                <a:solidFill>
                  <a:srgbClr val="1E3D1A"/>
                </a:solidFill>
                <a:latin typeface="Segoe U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892040"/>
            <a:ext cx="48463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2D5A27"/>
                </a:solidFill>
                <a:latin typeface="Segoe UI"/>
              </a:rPr>
              <a:t>Fluxo-alvo: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5193792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1E3D1A"/>
                </a:solidFill>
                <a:latin typeface="Segoe UI"/>
              </a:rPr>
              <a:t>Chat → OCR/IA → Robô (RPA) → Banco (Star Schema) → Notificação de sucesso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A6A57"/>
                </a:solidFill>
                <a:latin typeface="Segoe UI"/>
              </a:rPr>
              <a:t>GovFlow AI — Enterprise Challenge Claro × Startup One (FIAP)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A6A57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D7A35"/>
                </a:solidFill>
                <a:latin typeface="Segoe U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E3D1A"/>
                </a:solidFill>
                <a:latin typeface="Segoe UI"/>
              </a:rPr>
              <a:t>Objetivos e Métricas de Sucesso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A6A57"/>
                </a:solidFill>
                <a:latin typeface="Segoe UI"/>
              </a:rPr>
              <a:t>O que precisa ser verdade para o piloto ser considerado um sucesso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1005840" cy="41148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2423160"/>
            <a:ext cx="220370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D5A27"/>
                </a:solidFill>
                <a:latin typeface="Segoe UI"/>
              </a:rPr>
              <a:t>≥ 70%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00400"/>
            <a:ext cx="22037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3D1A"/>
                </a:solidFill>
                <a:latin typeface="Segoe UI"/>
              </a:rPr>
              <a:t>Reduzir tempo operacional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703320"/>
            <a:ext cx="2203704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5A6A57"/>
                </a:solidFill>
                <a:latin typeface="Segoe UI"/>
              </a:rPr>
              <a:t>de redução no tempo por automação (real vs. estimado manual)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14884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74720" y="214884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75887" y="2423160"/>
            <a:ext cx="220370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D5A27"/>
                </a:solidFill>
                <a:latin typeface="Segoe UI"/>
              </a:rPr>
              <a:t>≥ 85%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200400"/>
            <a:ext cx="22037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3D1A"/>
                </a:solidFill>
                <a:latin typeface="Segoe UI"/>
              </a:rPr>
              <a:t>Confiabilidade do robô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3703320"/>
            <a:ext cx="2203704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5A6A57"/>
                </a:solidFill>
                <a:latin typeface="Segoe UI"/>
              </a:rPr>
              <a:t>de protocolos concluídos sem intervenção humana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14884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09360" y="214884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528" y="2423160"/>
            <a:ext cx="220370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D5A27"/>
                </a:solidFill>
                <a:latin typeface="Segoe UI"/>
              </a:rPr>
              <a:t>Ativo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3200400"/>
            <a:ext cx="22037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3D1A"/>
                </a:solidFill>
                <a:latin typeface="Segoe UI"/>
              </a:rPr>
              <a:t>Canal conversacional validado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703320"/>
            <a:ext cx="2203704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5A6A57"/>
                </a:solidFill>
                <a:latin typeface="Segoe UI"/>
              </a:rPr>
              <a:t>% de solicitações via WhatsApp/chat vs. portal web, mensurável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214884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44000" y="214884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45168" y="2423160"/>
            <a:ext cx="220370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D5A27"/>
                </a:solidFill>
                <a:latin typeface="Segoe UI"/>
              </a:rPr>
              <a:t>NPS ≥ 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45168" y="3200400"/>
            <a:ext cx="22037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3D1A"/>
                </a:solidFill>
                <a:latin typeface="Segoe UI"/>
              </a:rPr>
              <a:t>Satisfação percebida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3703320"/>
            <a:ext cx="2203704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5A6A57"/>
                </a:solidFill>
                <a:latin typeface="Segoe UI"/>
              </a:rPr>
              <a:t>avaliação qualitativa dos contadores no piloto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257800"/>
            <a:ext cx="1078992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dirty="0">
                <a:solidFill>
                  <a:srgbClr val="2D5A27"/>
                </a:solidFill>
                <a:latin typeface="Segoe UI"/>
              </a:rPr>
              <a:t>Norte do </a:t>
            </a:r>
            <a:r>
              <a:rPr sz="1500" b="1" i="0" dirty="0" err="1">
                <a:solidFill>
                  <a:srgbClr val="2D5A27"/>
                </a:solidFill>
                <a:latin typeface="Segoe UI"/>
              </a:rPr>
              <a:t>produto</a:t>
            </a:r>
            <a:r>
              <a:rPr sz="1500" b="1" i="0" dirty="0">
                <a:solidFill>
                  <a:srgbClr val="2D5A27"/>
                </a:solidFill>
                <a:latin typeface="Segoe UI"/>
              </a:rPr>
              <a:t>:  </a:t>
            </a:r>
            <a:r>
              <a:rPr sz="1500" b="0" i="0" dirty="0" err="1">
                <a:solidFill>
                  <a:srgbClr val="111A0F"/>
                </a:solidFill>
                <a:latin typeface="Segoe UI"/>
              </a:rPr>
              <a:t>cada</a:t>
            </a:r>
            <a:r>
              <a:rPr sz="1500" b="0" i="0" dirty="0">
                <a:solidFill>
                  <a:srgbClr val="111A0F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11A0F"/>
                </a:solidFill>
                <a:latin typeface="Segoe UI"/>
              </a:rPr>
              <a:t>automação</a:t>
            </a:r>
            <a:r>
              <a:rPr sz="1500" b="0" i="0" dirty="0">
                <a:solidFill>
                  <a:srgbClr val="111A0F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11A0F"/>
                </a:solidFill>
                <a:latin typeface="Segoe UI"/>
              </a:rPr>
              <a:t>precisa</a:t>
            </a:r>
            <a:r>
              <a:rPr sz="1500" b="0" i="0" dirty="0">
                <a:solidFill>
                  <a:srgbClr val="111A0F"/>
                </a:solidFill>
                <a:latin typeface="Segoe UI"/>
              </a:rPr>
              <a:t> registrar dados </a:t>
            </a:r>
            <a:r>
              <a:rPr sz="1500" b="0" i="0" dirty="0" err="1">
                <a:solidFill>
                  <a:srgbClr val="111A0F"/>
                </a:solidFill>
                <a:latin typeface="Segoe UI"/>
              </a:rPr>
              <a:t>suficientes</a:t>
            </a:r>
            <a:r>
              <a:rPr sz="1500" b="0" i="0" dirty="0">
                <a:solidFill>
                  <a:srgbClr val="111A0F"/>
                </a:solidFill>
                <a:latin typeface="Segoe UI"/>
              </a:rPr>
              <a:t> para </a:t>
            </a:r>
            <a:r>
              <a:rPr sz="1500" b="0" i="0" dirty="0" err="1">
                <a:solidFill>
                  <a:srgbClr val="111A0F"/>
                </a:solidFill>
                <a:latin typeface="Segoe UI"/>
              </a:rPr>
              <a:t>provar</a:t>
            </a:r>
            <a:r>
              <a:rPr sz="1500" b="0" i="0" dirty="0">
                <a:solidFill>
                  <a:srgbClr val="111A0F"/>
                </a:solidFill>
                <a:latin typeface="Segoe UI"/>
              </a:rPr>
              <a:t>, com </a:t>
            </a:r>
            <a:r>
              <a:rPr sz="1500" b="0" i="0" dirty="0" err="1">
                <a:solidFill>
                  <a:srgbClr val="111A0F"/>
                </a:solidFill>
                <a:latin typeface="Segoe UI"/>
              </a:rPr>
              <a:t>números</a:t>
            </a:r>
            <a:r>
              <a:rPr sz="1500" b="0" i="0" dirty="0">
                <a:solidFill>
                  <a:srgbClr val="111A0F"/>
                </a:solidFill>
                <a:latin typeface="Segoe UI"/>
              </a:rPr>
              <a:t>, </a:t>
            </a:r>
            <a:r>
              <a:rPr sz="1500" b="0" i="0" dirty="0" err="1">
                <a:solidFill>
                  <a:srgbClr val="111A0F"/>
                </a:solidFill>
                <a:latin typeface="Segoe UI"/>
              </a:rPr>
              <a:t>quanto</a:t>
            </a:r>
            <a:r>
              <a:rPr sz="1500" b="0" i="0" dirty="0">
                <a:solidFill>
                  <a:srgbClr val="111A0F"/>
                </a:solidFill>
                <a:latin typeface="Segoe UI"/>
              </a:rPr>
              <a:t> tempo o </a:t>
            </a:r>
            <a:r>
              <a:rPr sz="1500" b="0" i="0" dirty="0" err="1">
                <a:solidFill>
                  <a:srgbClr val="111A0F"/>
                </a:solidFill>
                <a:latin typeface="Segoe UI"/>
              </a:rPr>
              <a:t>contador</a:t>
            </a:r>
            <a:r>
              <a:rPr sz="1500" b="0" i="0" dirty="0">
                <a:solidFill>
                  <a:srgbClr val="111A0F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11A0F"/>
                </a:solidFill>
                <a:latin typeface="Segoe UI"/>
              </a:rPr>
              <a:t>economizou</a:t>
            </a:r>
            <a:r>
              <a:rPr sz="1500" b="0" i="0" dirty="0">
                <a:solidFill>
                  <a:srgbClr val="111A0F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11A0F"/>
                </a:solidFill>
                <a:latin typeface="Segoe UI"/>
              </a:rPr>
              <a:t>não</a:t>
            </a:r>
            <a:r>
              <a:rPr sz="1500" b="0" i="0" dirty="0">
                <a:solidFill>
                  <a:srgbClr val="111A0F"/>
                </a:solidFill>
                <a:latin typeface="Segoe UI"/>
              </a:rPr>
              <a:t> é </a:t>
            </a:r>
            <a:r>
              <a:rPr sz="1500" b="0" i="0" dirty="0" err="1">
                <a:solidFill>
                  <a:srgbClr val="111A0F"/>
                </a:solidFill>
                <a:latin typeface="Segoe UI"/>
              </a:rPr>
              <a:t>só</a:t>
            </a:r>
            <a:r>
              <a:rPr sz="1500" b="0" i="0" dirty="0">
                <a:solidFill>
                  <a:srgbClr val="111A0F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11A0F"/>
                </a:solidFill>
                <a:latin typeface="Segoe UI"/>
              </a:rPr>
              <a:t>automação</a:t>
            </a:r>
            <a:r>
              <a:rPr sz="1500" b="0" i="0" dirty="0">
                <a:solidFill>
                  <a:srgbClr val="111A0F"/>
                </a:solidFill>
                <a:latin typeface="Segoe UI"/>
              </a:rPr>
              <a:t>, é </a:t>
            </a:r>
            <a:r>
              <a:rPr sz="1500" b="0" i="0" dirty="0" err="1">
                <a:solidFill>
                  <a:srgbClr val="111A0F"/>
                </a:solidFill>
                <a:latin typeface="Segoe UI"/>
              </a:rPr>
              <a:t>prova</a:t>
            </a:r>
            <a:r>
              <a:rPr sz="1500" b="0" i="0" dirty="0">
                <a:solidFill>
                  <a:srgbClr val="111A0F"/>
                </a:solidFill>
                <a:latin typeface="Segoe UI"/>
              </a:rPr>
              <a:t> de ROI </a:t>
            </a:r>
            <a:r>
              <a:rPr sz="1500" b="0" i="0" dirty="0" err="1">
                <a:solidFill>
                  <a:srgbClr val="111A0F"/>
                </a:solidFill>
                <a:latin typeface="Segoe UI"/>
              </a:rPr>
              <a:t>mensurável</a:t>
            </a:r>
            <a:r>
              <a:rPr sz="1500" b="0" i="0" dirty="0">
                <a:solidFill>
                  <a:srgbClr val="111A0F"/>
                </a:solidFill>
                <a:latin typeface="Segoe UI"/>
              </a:rPr>
              <a:t>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A6A57"/>
                </a:solidFill>
                <a:latin typeface="Segoe UI"/>
              </a:rPr>
              <a:t>GovFlow AI — Enterprise Challenge Claro × Startup One (FIAP)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A6A57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D7A35"/>
                </a:solidFill>
                <a:latin typeface="Segoe U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E3D1A"/>
                </a:solidFill>
                <a:latin typeface="Segoe UI"/>
              </a:rPr>
              <a:t>Arquitetura Geral da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A6A57"/>
                </a:solidFill>
                <a:latin typeface="Segoe UI"/>
              </a:rPr>
              <a:t>Três camadas: entrada do usuário → inteligência/execução → gestão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1005840" cy="41148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CAMADA 1 — HUB DE CONVERGÊNCIA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06040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DCEFD9"/>
                </a:solidFill>
                <a:latin typeface="Segoe UI"/>
              </a:rPr>
              <a:t>Ponto único de contato: WhatsApp / Webchat  +  Portal Web (SSO)  +  Webhooks/API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3401568"/>
            <a:ext cx="0" cy="301752"/>
          </a:xfrm>
          <a:prstGeom prst="line">
            <a:avLst/>
          </a:prstGeom>
          <a:ln w="31750">
            <a:solidFill>
              <a:srgbClr val="2D5A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0080" y="3730752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3D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822191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CAMADA 2 — APLICAÇÃO (BACKEND / CORE)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87952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Motor OCR/NLP  +  Motor RPA (Puppeteer)  +  Banco Relacional &amp; Data Warehouse (Star Schema)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80760" y="4983480"/>
            <a:ext cx="0" cy="301752"/>
          </a:xfrm>
          <a:prstGeom prst="line">
            <a:avLst/>
          </a:prstGeom>
          <a:ln w="31750">
            <a:solidFill>
              <a:srgbClr val="2D5A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5312664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1E3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5404103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CAMADA 3 — PAINEL DE GESTÃO / 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769864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5F5DC"/>
                </a:solidFill>
                <a:latin typeface="Segoe UI"/>
              </a:rPr>
              <a:t>Status Board  +  Gráficos Analíticos de ROI  +  Gestão de Assinatura SaaS (Freemium)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A6A57"/>
                </a:solidFill>
                <a:latin typeface="Segoe UI"/>
              </a:rPr>
              <a:t>GovFlow AI — Enterprise Challenge Claro × Startup One (FIAP)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A6A57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D7A35"/>
                </a:solidFill>
                <a:latin typeface="Segoe U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E3D1A"/>
                </a:solidFill>
                <a:latin typeface="Segoe UI"/>
              </a:rPr>
              <a:t>Onde entra o Hub de IA Conversacional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A6A57"/>
                </a:solidFill>
                <a:latin typeface="Segoe UI"/>
              </a:rPr>
              <a:t>Zoom na Camada 1 — a porta de entrada omnichannel do produto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1005840" cy="41148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A9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1E3D1A"/>
                </a:solidFill>
                <a:latin typeface="Segoe UI"/>
              </a:rPr>
              <a:t>💬 WhatsApp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42032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A6A57"/>
                </a:solidFill>
                <a:latin typeface="Segoe UI"/>
              </a:rPr>
              <a:t>(piloto)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461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A9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1E3D1A"/>
                </a:solidFill>
                <a:latin typeface="Segoe UI"/>
              </a:rPr>
              <a:t>🖥️ Webchat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85032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1">
                <a:solidFill>
                  <a:srgbClr val="2D5A27"/>
                </a:solidFill>
                <a:latin typeface="Segoe UI"/>
              </a:rPr>
              <a:t>implementado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2560320"/>
            <a:ext cx="502920" cy="274320"/>
          </a:xfrm>
          <a:prstGeom prst="line">
            <a:avLst/>
          </a:prstGeom>
          <a:ln w="25400">
            <a:solidFill>
              <a:srgbClr val="2D5A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834640" y="3246120"/>
            <a:ext cx="502920" cy="457200"/>
          </a:xfrm>
          <a:prstGeom prst="line">
            <a:avLst/>
          </a:prstGeom>
          <a:ln w="25400">
            <a:solidFill>
              <a:srgbClr val="2D5A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383280" y="1965960"/>
            <a:ext cx="3657600" cy="2880360"/>
          </a:xfrm>
          <a:prstGeom prst="roundRect">
            <a:avLst>
              <a:gd name="adj" fmla="val 7000"/>
            </a:avLst>
          </a:prstGeom>
          <a:solidFill>
            <a:srgbClr val="2D5A27"/>
          </a:solidFill>
          <a:ln w="31750">
            <a:solidFill>
              <a:srgbClr val="5A9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11880" y="210312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🤖  HUB DE CONVERGÊNCIA (IA)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51460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>
                <a:solidFill>
                  <a:srgbClr val="DCEFD9"/>
                </a:solidFill>
                <a:latin typeface="Segoe UI"/>
              </a:rPr>
              <a:t>—  Fluxo guiado por menu (máquina de estados)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DCEFD9"/>
                </a:solidFill>
                <a:latin typeface="Segoe UI"/>
              </a:rPr>
              <a:t>—  Recepção de documentos (PDF/JPG/PNG)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DCEFD9"/>
                </a:solidFill>
                <a:latin typeface="Segoe UI"/>
              </a:rPr>
              <a:t>—  Feedback proativo em tempo real (eventos de status)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DCEFD9"/>
                </a:solidFill>
                <a:latin typeface="Segoe UI"/>
              </a:rPr>
              <a:t>—  Desacoplado de canal — mesma lógica serve WhatsApp e Webchat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1880" y="457200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50" b="1">
                <a:solidFill>
                  <a:srgbClr val="1E3D1A"/>
                </a:solidFill>
                <a:latin typeface="Segoe UI"/>
              </a:rPr>
              <a:t>IMPLEMENTADO (MVP)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40880" y="3401568"/>
            <a:ext cx="502920" cy="0"/>
          </a:xfrm>
          <a:prstGeom prst="line">
            <a:avLst/>
          </a:prstGeom>
          <a:ln w="31750">
            <a:solidFill>
              <a:srgbClr val="2D5A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589520" y="1965960"/>
            <a:ext cx="397763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0" y="210312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3D1A"/>
                </a:solidFill>
                <a:latin typeface="Segoe UI"/>
              </a:rPr>
              <a:t>🧠 OCR / NLP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404872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5A6A57"/>
                </a:solidFill>
                <a:latin typeface="Segoe UI"/>
              </a:rPr>
              <a:t>extrai e limpa os dados do documento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555480" y="2880360"/>
            <a:ext cx="0" cy="228600"/>
          </a:xfrm>
          <a:prstGeom prst="line">
            <a:avLst/>
          </a:prstGeom>
          <a:ln w="25400">
            <a:solidFill>
              <a:srgbClr val="2D5A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89520" y="3127248"/>
            <a:ext cx="397763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0" y="326440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3D1A"/>
                </a:solidFill>
                <a:latin typeface="Segoe UI"/>
              </a:rPr>
              <a:t>🤖 RPA (Puppeteer)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5661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5A6A57"/>
                </a:solidFill>
                <a:latin typeface="Segoe UI"/>
              </a:rPr>
              <a:t>preenche o portal do governo e gera protocolo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555480" y="4041648"/>
            <a:ext cx="0" cy="228600"/>
          </a:xfrm>
          <a:prstGeom prst="line">
            <a:avLst/>
          </a:prstGeom>
          <a:ln w="25400">
            <a:solidFill>
              <a:srgbClr val="2D5A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589520" y="4288536"/>
            <a:ext cx="397763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0" y="4425696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3D1A"/>
                </a:solidFill>
                <a:latin typeface="Segoe UI"/>
              </a:rPr>
              <a:t>🗄️ Banco / Star Schema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72744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5A6A57"/>
                </a:solidFill>
                <a:latin typeface="Segoe UI"/>
              </a:rPr>
              <a:t>registra tempo, canal e resultado (ROI)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5212080" y="5120640"/>
            <a:ext cx="2331720" cy="0"/>
          </a:xfrm>
          <a:prstGeom prst="line">
            <a:avLst/>
          </a:prstGeom>
          <a:ln w="25400">
            <a:solidFill>
              <a:srgbClr val="3D7A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212080" y="4892040"/>
            <a:ext cx="0" cy="228600"/>
          </a:xfrm>
          <a:prstGeom prst="line">
            <a:avLst/>
          </a:prstGeom>
          <a:ln w="25400">
            <a:solidFill>
              <a:srgbClr val="3D7A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394960" y="4983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1">
                <a:solidFill>
                  <a:srgbClr val="3D7A35"/>
                </a:solidFill>
                <a:latin typeface="Segoe UI"/>
              </a:rPr>
              <a:t>notifica sucesso no chat 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A6A57"/>
                </a:solidFill>
                <a:latin typeface="Segoe UI"/>
              </a:rPr>
              <a:t>GovFlow AI — Enterprise Challenge Claro × Startup One (FIAP)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A6A57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D7A35"/>
                </a:solidFill>
                <a:latin typeface="Segoe U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E3D1A"/>
                </a:solidFill>
                <a:latin typeface="Segoe UI"/>
              </a:rPr>
              <a:t>Tecnologias Adotadas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A6A57"/>
                </a:solidFill>
                <a:latin typeface="Segoe UI"/>
              </a:rPr>
              <a:t>Stack de desenvolvimento e ferramentas de apoio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1005840" cy="41148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5204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73152" cy="210312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24942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3D1A"/>
                </a:solidFill>
                <a:latin typeface="Segoe UI"/>
              </a:rPr>
              <a:t>Linguagem &amp; Runtime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670048"/>
            <a:ext cx="306324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JavaScript (Node.js)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HTML5 / CSS3 (frontend)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03120"/>
            <a:ext cx="35204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2103120"/>
            <a:ext cx="73152" cy="210312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9432" y="224942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3D1A"/>
                </a:solidFill>
                <a:latin typeface="Segoe UI"/>
              </a:rPr>
              <a:t>Framework &amp; Middlewares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670048"/>
            <a:ext cx="306324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Express 5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CORS, dotenv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Multer (upload de arquivos)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103120"/>
            <a:ext cx="35204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19" y="2103120"/>
            <a:ext cx="73152" cy="210312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02751" y="224942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3D1A"/>
                </a:solidFill>
                <a:latin typeface="Segoe UI"/>
              </a:rPr>
              <a:t>Automação &amp;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1" y="2670048"/>
            <a:ext cx="306324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Puppeteer (RPA / Chromium)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OCR/NLP — arquitetado, integração real pendente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35204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4434840"/>
            <a:ext cx="73152" cy="210312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3D1A"/>
                </a:solidFill>
                <a:latin typeface="Segoe UI"/>
              </a:rPr>
              <a:t>Tempo Real &amp; Auth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5001768"/>
            <a:ext cx="306324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Server-Sent Events (SSE)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Sessão via cookie httpOnly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Fluxo OAuth2/OIDC (Authorization Code)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434840"/>
            <a:ext cx="35204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343400" y="4434840"/>
            <a:ext cx="73152" cy="210312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99432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3D1A"/>
                </a:solidFill>
                <a:latin typeface="Segoe UI"/>
              </a:rPr>
              <a:t>Frontend / UX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2" y="5001768"/>
            <a:ext cx="306324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JavaScript vanilla (sem framework)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Lucide Icons, Google Fonts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4434840"/>
            <a:ext cx="35204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46719" y="4434840"/>
            <a:ext cx="73152" cy="210312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02751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3D1A"/>
                </a:solidFill>
                <a:latin typeface="Segoe UI"/>
              </a:rPr>
              <a:t>Apoio ao Desenvolvimento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1" y="5001768"/>
            <a:ext cx="3063240" cy="641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 dirty="0">
                <a:solidFill>
                  <a:srgbClr val="111A0F"/>
                </a:solidFill>
                <a:latin typeface="Segoe UI"/>
              </a:rPr>
              <a:t>•  Visual Studio Code</a:t>
            </a:r>
            <a:br>
              <a:rPr lang="pt-BR" sz="1050" b="0" dirty="0">
                <a:solidFill>
                  <a:srgbClr val="111A0F"/>
                </a:solidFill>
                <a:latin typeface="Segoe UI"/>
              </a:rPr>
            </a:br>
            <a:r>
              <a:rPr lang="pt-BR" sz="1050" b="0" dirty="0">
                <a:solidFill>
                  <a:srgbClr val="111A0F"/>
                </a:solidFill>
                <a:latin typeface="Segoe UI"/>
              </a:rPr>
              <a:t>•  Documentação em </a:t>
            </a:r>
            <a:r>
              <a:rPr lang="pt-BR" sz="1050" b="0" dirty="0" err="1">
                <a:solidFill>
                  <a:srgbClr val="111A0F"/>
                </a:solidFill>
                <a:latin typeface="Segoe UI"/>
              </a:rPr>
              <a:t>Markdown</a:t>
            </a:r>
            <a:r>
              <a:rPr lang="pt-BR" sz="1050" b="0" dirty="0">
                <a:solidFill>
                  <a:srgbClr val="111A0F"/>
                </a:solidFill>
                <a:latin typeface="Segoe UI"/>
              </a:rPr>
              <a:t> (PRD + </a:t>
            </a:r>
            <a:r>
              <a:rPr lang="pt-BR" sz="1050" b="0" dirty="0" err="1">
                <a:solidFill>
                  <a:srgbClr val="111A0F"/>
                </a:solidFill>
                <a:latin typeface="Segoe UI"/>
              </a:rPr>
              <a:t>specs</a:t>
            </a:r>
            <a:r>
              <a:rPr lang="pt-BR" sz="1050" b="0" dirty="0">
                <a:solidFill>
                  <a:srgbClr val="111A0F"/>
                </a:solidFill>
                <a:latin typeface="Segoe UI"/>
              </a:rPr>
              <a:t>)</a:t>
            </a:r>
          </a:p>
          <a:p>
            <a:pPr>
              <a:spcAft>
                <a:spcPts val="500"/>
              </a:spcAft>
            </a:pPr>
            <a:r>
              <a:rPr sz="1050" b="0" dirty="0">
                <a:solidFill>
                  <a:srgbClr val="111A0F"/>
                </a:solidFill>
                <a:latin typeface="Segoe UI"/>
              </a:rPr>
              <a:t>•  Testes </a:t>
            </a:r>
            <a:r>
              <a:rPr sz="1050" b="0" dirty="0" err="1">
                <a:solidFill>
                  <a:srgbClr val="111A0F"/>
                </a:solidFill>
                <a:latin typeface="Segoe UI"/>
              </a:rPr>
              <a:t>manuais</a:t>
            </a:r>
            <a:r>
              <a:rPr sz="1050" b="0" dirty="0">
                <a:solidFill>
                  <a:srgbClr val="111A0F"/>
                </a:solidFill>
                <a:latin typeface="Segoe UI"/>
              </a:rPr>
              <a:t> via curl / streams SSE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A6A57"/>
                </a:solidFill>
                <a:latin typeface="Segoe UI"/>
              </a:rPr>
              <a:t>GovFlow AI — Enterprise Challenge Claro × Startup One (FIAP)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A6A57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D7A35"/>
                </a:solidFill>
                <a:latin typeface="Segoe U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E3D1A"/>
                </a:solidFill>
                <a:latin typeface="Segoe UI"/>
              </a:rPr>
              <a:t>Estado Atual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A6A57"/>
                </a:solidFill>
                <a:latin typeface="Segoe UI"/>
              </a:rPr>
              <a:t>9 funcionalidades mapeadas nas 3 camadas — progresso real de implementação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1005840" cy="41148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3520440" cy="39776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2313432"/>
            <a:ext cx="31181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2D5A27"/>
                </a:solidFill>
                <a:latin typeface="Segoe UI"/>
              </a:rPr>
              <a:t>Camada 1 — Hub de Convergência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2608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A0F"/>
                </a:solidFill>
                <a:latin typeface="Segoe UI"/>
              </a:rPr>
              <a:t>Interface Conversacional (Webchat)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926080"/>
            <a:ext cx="311810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2D5A27"/>
                </a:solidFill>
                <a:latin typeface="Segoe UI"/>
              </a:rPr>
              <a:t>100%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7" y="3236976"/>
            <a:ext cx="3118104" cy="146304"/>
          </a:xfrm>
          <a:prstGeom prst="roundRect">
            <a:avLst>
              <a:gd name="adj" fmla="val 50000"/>
            </a:avLst>
          </a:prstGeom>
          <a:solidFill>
            <a:srgbClr val="C8D6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41247" y="3236976"/>
            <a:ext cx="3118104" cy="146304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7" y="3429000"/>
            <a:ext cx="311810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5A6A57"/>
                </a:solidFill>
                <a:latin typeface="Segoe UI"/>
              </a:rPr>
              <a:t>MVP implementado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959352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A0F"/>
                </a:solidFill>
                <a:latin typeface="Segoe UI"/>
              </a:rPr>
              <a:t>Portal Web / SSO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959352"/>
            <a:ext cx="311810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2D5A27"/>
                </a:solidFill>
                <a:latin typeface="Segoe UI"/>
              </a:rPr>
              <a:t>100%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7" y="4270248"/>
            <a:ext cx="3118104" cy="146304"/>
          </a:xfrm>
          <a:prstGeom prst="roundRect">
            <a:avLst>
              <a:gd name="adj" fmla="val 50000"/>
            </a:avLst>
          </a:prstGeom>
          <a:solidFill>
            <a:srgbClr val="C8D6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41247" y="4270248"/>
            <a:ext cx="3118104" cy="146304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7" y="4462272"/>
            <a:ext cx="311810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5A6A57"/>
                </a:solidFill>
                <a:latin typeface="Segoe UI"/>
              </a:rPr>
              <a:t>MVP implementado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4992624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A0F"/>
                </a:solidFill>
                <a:latin typeface="Segoe UI"/>
              </a:rPr>
              <a:t>Webhooks e APIs (fila real)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" y="4992624"/>
            <a:ext cx="311810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2D5A27"/>
                </a:solidFill>
                <a:latin typeface="Segoe UI"/>
              </a:rPr>
              <a:t>30%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7" y="5303520"/>
            <a:ext cx="3118104" cy="146304"/>
          </a:xfrm>
          <a:prstGeom prst="roundRect">
            <a:avLst>
              <a:gd name="adj" fmla="val 50000"/>
            </a:avLst>
          </a:prstGeom>
          <a:solidFill>
            <a:srgbClr val="C8D6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41247" y="5303520"/>
            <a:ext cx="935431" cy="146304"/>
          </a:xfrm>
          <a:prstGeom prst="roundRect">
            <a:avLst>
              <a:gd name="adj" fmla="val 50000"/>
            </a:avLst>
          </a:prstGeom>
          <a:solidFill>
            <a:srgbClr val="B886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7" y="5495544"/>
            <a:ext cx="311810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5A6A57"/>
                </a:solidFill>
                <a:latin typeface="Segoe UI"/>
              </a:rPr>
              <a:t>Stand-in em memória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2148840"/>
            <a:ext cx="3520440" cy="39776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44568" y="2313432"/>
            <a:ext cx="31181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2D5A27"/>
                </a:solidFill>
                <a:latin typeface="Segoe UI"/>
              </a:rPr>
              <a:t>Camada 2 — Aplicação (Core)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292608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A0F"/>
                </a:solidFill>
                <a:latin typeface="Segoe UI"/>
              </a:rPr>
              <a:t>Motor de OCR / NLP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4568" y="2926080"/>
            <a:ext cx="311810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pt-BR" sz="1100" b="1" i="0" dirty="0">
                <a:solidFill>
                  <a:srgbClr val="2D5A27"/>
                </a:solidFill>
                <a:latin typeface="Segoe UI"/>
              </a:rPr>
              <a:t>45</a:t>
            </a:r>
            <a:r>
              <a:rPr sz="1100" b="1" i="0" dirty="0">
                <a:solidFill>
                  <a:srgbClr val="2D5A27"/>
                </a:solidFill>
                <a:latin typeface="Segoe UI"/>
              </a:rPr>
              <a:t>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44568" y="3236976"/>
            <a:ext cx="3118104" cy="146304"/>
          </a:xfrm>
          <a:prstGeom prst="roundRect">
            <a:avLst>
              <a:gd name="adj" fmla="val 50000"/>
            </a:avLst>
          </a:prstGeom>
          <a:solidFill>
            <a:srgbClr val="C8D6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544568" y="3246120"/>
            <a:ext cx="1341077" cy="137160"/>
          </a:xfrm>
          <a:prstGeom prst="roundRect">
            <a:avLst>
              <a:gd name="adj" fmla="val 50000"/>
            </a:avLst>
          </a:prstGeom>
          <a:solidFill>
            <a:srgbClr val="B4BC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44568" y="3429000"/>
            <a:ext cx="3118104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 dirty="0">
                <a:solidFill>
                  <a:srgbClr val="5A6A57"/>
                </a:solidFill>
                <a:latin typeface="Segoe UI"/>
              </a:rPr>
              <a:t>Stub — dados </a:t>
            </a:r>
            <a:r>
              <a:rPr lang="pt-BR" sz="950" b="0" i="1" dirty="0">
                <a:solidFill>
                  <a:srgbClr val="5A6A57"/>
                </a:solidFill>
                <a:latin typeface="Segoe UI"/>
              </a:rPr>
              <a:t>fictícios</a:t>
            </a:r>
            <a:endParaRPr sz="950" b="0" i="1" dirty="0">
              <a:solidFill>
                <a:srgbClr val="5A6A57"/>
              </a:solidFill>
              <a:latin typeface="Segoe U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544568" y="3959352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A0F"/>
                </a:solidFill>
                <a:latin typeface="Segoe UI"/>
              </a:rPr>
              <a:t>Motor de Automação RPA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44568" y="3959352"/>
            <a:ext cx="311810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2D5A27"/>
                </a:solidFill>
                <a:latin typeface="Segoe UI"/>
              </a:rPr>
              <a:t>70%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44568" y="4270248"/>
            <a:ext cx="3118104" cy="146304"/>
          </a:xfrm>
          <a:prstGeom prst="roundRect">
            <a:avLst>
              <a:gd name="adj" fmla="val 50000"/>
            </a:avLst>
          </a:prstGeom>
          <a:solidFill>
            <a:srgbClr val="C8D6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4544568" y="4270248"/>
            <a:ext cx="2182672" cy="146304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44568" y="4462272"/>
            <a:ext cx="311810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5A6A57"/>
                </a:solidFill>
                <a:latin typeface="Segoe UI"/>
              </a:rPr>
              <a:t>Robô real (portal de testes)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4568" y="4992624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A0F"/>
                </a:solidFill>
                <a:latin typeface="Segoe UI"/>
              </a:rPr>
              <a:t>Banco de Dados / Data Warehouse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4992624"/>
            <a:ext cx="311810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pt-BR" sz="1100" b="1" i="0" dirty="0">
                <a:solidFill>
                  <a:srgbClr val="2D5A27"/>
                </a:solidFill>
                <a:latin typeface="Segoe UI"/>
              </a:rPr>
              <a:t>3</a:t>
            </a:r>
            <a:r>
              <a:rPr sz="1100" b="1" i="0" dirty="0">
                <a:solidFill>
                  <a:srgbClr val="2D5A27"/>
                </a:solidFill>
                <a:latin typeface="Segoe UI"/>
              </a:rPr>
              <a:t>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44568" y="5303520"/>
            <a:ext cx="3118104" cy="146304"/>
          </a:xfrm>
          <a:prstGeom prst="roundRect">
            <a:avLst>
              <a:gd name="adj" fmla="val 50000"/>
            </a:avLst>
          </a:prstGeom>
          <a:solidFill>
            <a:srgbClr val="C8D6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44568" y="5495544"/>
            <a:ext cx="3118104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950" i="1" dirty="0">
                <a:solidFill>
                  <a:srgbClr val="5A6A57"/>
                </a:solidFill>
                <a:latin typeface="Segoe UI"/>
              </a:rPr>
              <a:t>Em fase inicial</a:t>
            </a:r>
            <a:endParaRPr sz="950" b="0" i="1" dirty="0">
              <a:solidFill>
                <a:srgbClr val="5A6A57"/>
              </a:solidFill>
              <a:latin typeface="Segoe UI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8046719" y="2148840"/>
            <a:ext cx="3520440" cy="39776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247888" y="2313432"/>
            <a:ext cx="31181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2D5A27"/>
                </a:solidFill>
                <a:latin typeface="Segoe UI"/>
              </a:rPr>
              <a:t>Camada 3 — Painel de Gestão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47888" y="292608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A0F"/>
                </a:solidFill>
                <a:latin typeface="Segoe UI"/>
              </a:rPr>
              <a:t>Status Board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47888" y="2926080"/>
            <a:ext cx="311810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2D5A27"/>
                </a:solidFill>
                <a:latin typeface="Segoe UI"/>
              </a:rPr>
              <a:t>20%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47888" y="3236976"/>
            <a:ext cx="3118104" cy="146304"/>
          </a:xfrm>
          <a:prstGeom prst="roundRect">
            <a:avLst>
              <a:gd name="adj" fmla="val 50000"/>
            </a:avLst>
          </a:prstGeom>
          <a:solidFill>
            <a:srgbClr val="C8D6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8247888" y="3236976"/>
            <a:ext cx="623620" cy="146304"/>
          </a:xfrm>
          <a:prstGeom prst="roundRect">
            <a:avLst>
              <a:gd name="adj" fmla="val 50000"/>
            </a:avLst>
          </a:prstGeom>
          <a:solidFill>
            <a:srgbClr val="B886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47888" y="3429000"/>
            <a:ext cx="311810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5A6A57"/>
                </a:solidFill>
                <a:latin typeface="Segoe UI"/>
              </a:rPr>
              <a:t>Mock visual, sem histórico real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47888" y="3959352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A0F"/>
                </a:solidFill>
                <a:latin typeface="Segoe UI"/>
              </a:rPr>
              <a:t>Gráficos de ROI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47888" y="3959352"/>
            <a:ext cx="311810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2D5A27"/>
                </a:solidFill>
                <a:latin typeface="Segoe UI"/>
              </a:rPr>
              <a:t>0%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47888" y="4270248"/>
            <a:ext cx="3118104" cy="146304"/>
          </a:xfrm>
          <a:prstGeom prst="roundRect">
            <a:avLst>
              <a:gd name="adj" fmla="val 50000"/>
            </a:avLst>
          </a:prstGeom>
          <a:solidFill>
            <a:srgbClr val="C8D6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8247888" y="427024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B4BC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247888" y="4462272"/>
            <a:ext cx="311810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5A6A57"/>
                </a:solidFill>
                <a:latin typeface="Segoe UI"/>
              </a:rPr>
              <a:t>Não iniciado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47888" y="4992624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A0F"/>
                </a:solidFill>
                <a:latin typeface="Segoe UI"/>
              </a:rPr>
              <a:t>Gestão SaaS Freemium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47888" y="4992624"/>
            <a:ext cx="311810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2D5A27"/>
                </a:solidFill>
                <a:latin typeface="Segoe UI"/>
              </a:rPr>
              <a:t>0%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247888" y="5303520"/>
            <a:ext cx="3118104" cy="146304"/>
          </a:xfrm>
          <a:prstGeom prst="roundRect">
            <a:avLst>
              <a:gd name="adj" fmla="val 50000"/>
            </a:avLst>
          </a:prstGeom>
          <a:solidFill>
            <a:srgbClr val="C8D6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8247888" y="53035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B4BC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47888" y="5495544"/>
            <a:ext cx="311810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5A6A57"/>
                </a:solidFill>
                <a:latin typeface="Segoe UI"/>
              </a:rPr>
              <a:t>Não iniciado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A6A57"/>
                </a:solidFill>
                <a:latin typeface="Segoe UI"/>
              </a:rPr>
              <a:t>GovFlow AI — Enterprise Challenge Claro × Startup One (FIAP)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A6A57"/>
                </a:solidFill>
                <a:latin typeface="Segoe UI"/>
              </a:rPr>
              <a:t>7</a:t>
            </a:r>
          </a:p>
        </p:txBody>
      </p:sp>
      <p:sp>
        <p:nvSpPr>
          <p:cNvPr id="60" name="Rounded Rectangle 20">
            <a:extLst>
              <a:ext uri="{FF2B5EF4-FFF2-40B4-BE49-F238E27FC236}">
                <a16:creationId xmlns:a16="http://schemas.microsoft.com/office/drawing/2014/main" id="{FA458A93-43EC-9BC9-6D68-D2168C8BC5E6}"/>
              </a:ext>
            </a:extLst>
          </p:cNvPr>
          <p:cNvSpPr/>
          <p:nvPr/>
        </p:nvSpPr>
        <p:spPr>
          <a:xfrm>
            <a:off x="4544568" y="3233048"/>
            <a:ext cx="1392593" cy="146304"/>
          </a:xfrm>
          <a:prstGeom prst="roundRect">
            <a:avLst>
              <a:gd name="adj" fmla="val 50000"/>
            </a:avLst>
          </a:prstGeom>
          <a:solidFill>
            <a:srgbClr val="B886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20">
            <a:extLst>
              <a:ext uri="{FF2B5EF4-FFF2-40B4-BE49-F238E27FC236}">
                <a16:creationId xmlns:a16="http://schemas.microsoft.com/office/drawing/2014/main" id="{CF415630-3BB1-EB45-AC08-F62C39738731}"/>
              </a:ext>
            </a:extLst>
          </p:cNvPr>
          <p:cNvSpPr/>
          <p:nvPr/>
        </p:nvSpPr>
        <p:spPr>
          <a:xfrm>
            <a:off x="4544568" y="5303520"/>
            <a:ext cx="935431" cy="146304"/>
          </a:xfrm>
          <a:prstGeom prst="roundRect">
            <a:avLst>
              <a:gd name="adj" fmla="val 50000"/>
            </a:avLst>
          </a:prstGeom>
          <a:solidFill>
            <a:srgbClr val="B886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D7A35"/>
                </a:solidFill>
                <a:latin typeface="Segoe U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E3D1A"/>
                </a:solidFill>
                <a:latin typeface="Segoe UI"/>
              </a:rPr>
              <a:t>Demonstração Funcional — Webchat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A6A57"/>
                </a:solidFill>
                <a:latin typeface="Segoe UI"/>
              </a:rPr>
              <a:t>Experiência do usuário: da conversa ao protocolo, sem sair do chat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1005840" cy="41148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260604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41247" y="2377440"/>
            <a:ext cx="502920" cy="502920"/>
          </a:xfrm>
          <a:prstGeom prst="ellipse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063240"/>
            <a:ext cx="22037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3D1A"/>
                </a:solidFill>
                <a:latin typeface="Segoe UI"/>
              </a:rPr>
              <a:t>Menu guiado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566160"/>
            <a:ext cx="2203704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6A57"/>
                </a:solidFill>
                <a:latin typeface="Segoe UI"/>
              </a:rPr>
              <a:t>O contador abre o webchat e escolhe o serviço desejado (ex: Abertura de Empresa — Redesim) por um menu simples de opções.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73551" y="3904487"/>
            <a:ext cx="146305" cy="0"/>
          </a:xfrm>
          <a:prstGeom prst="line">
            <a:avLst/>
          </a:prstGeom>
          <a:ln w="25400">
            <a:solidFill>
              <a:srgbClr val="5A9E5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447288" y="2148840"/>
            <a:ext cx="260604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648456" y="2377440"/>
            <a:ext cx="502920" cy="502920"/>
          </a:xfrm>
          <a:prstGeom prst="ellipse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8456" y="3063240"/>
            <a:ext cx="22037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3D1A"/>
                </a:solidFill>
                <a:latin typeface="Segoe UI"/>
              </a:rPr>
              <a:t>Envio do documento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3566160"/>
            <a:ext cx="2203704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6A57"/>
                </a:solidFill>
                <a:latin typeface="Segoe UI"/>
              </a:rPr>
              <a:t>Anexa o PDF/foto do Contrato Social diretamente na conversa — o próprio chat valida tipo e tamanho do arquivo na hora.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80760" y="3904487"/>
            <a:ext cx="146304" cy="0"/>
          </a:xfrm>
          <a:prstGeom prst="line">
            <a:avLst/>
          </a:prstGeom>
          <a:ln w="25400">
            <a:solidFill>
              <a:srgbClr val="5A9E5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254496" y="2148840"/>
            <a:ext cx="260604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455664" y="2377440"/>
            <a:ext cx="502920" cy="502920"/>
          </a:xfrm>
          <a:prstGeom prst="ellipse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063240"/>
            <a:ext cx="22037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3D1A"/>
                </a:solidFill>
                <a:latin typeface="Segoe UI"/>
              </a:rPr>
              <a:t>Acompanhamento em tempo real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3566160"/>
            <a:ext cx="2203704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6A57"/>
                </a:solidFill>
                <a:latin typeface="Segoe UI"/>
              </a:rPr>
              <a:t>Recebe mensagens automáticas conforme o robô avança: documento recebido, extração de dados, robô acessando o portal...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87968" y="3904487"/>
            <a:ext cx="146304" cy="0"/>
          </a:xfrm>
          <a:prstGeom prst="line">
            <a:avLst/>
          </a:prstGeom>
          <a:ln w="25400">
            <a:solidFill>
              <a:srgbClr val="5A9E5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061704" y="2148840"/>
            <a:ext cx="260604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262872" y="2377440"/>
            <a:ext cx="502920" cy="502920"/>
          </a:xfrm>
          <a:prstGeom prst="ellipse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3063240"/>
            <a:ext cx="22037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3D1A"/>
                </a:solidFill>
                <a:latin typeface="Segoe UI"/>
              </a:rPr>
              <a:t>Protocolo entregue no chat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3566160"/>
            <a:ext cx="2203704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6A57"/>
                </a:solidFill>
                <a:latin typeface="Segoe UI"/>
              </a:rPr>
              <a:t>Ao final, recebe a confirmação com o número de protocolo gerado — sem precisar abrir nenhum outro sistema.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1">
                <a:solidFill>
                  <a:srgbClr val="2D5A27"/>
                </a:solidFill>
                <a:latin typeface="Segoe UI"/>
              </a:rPr>
              <a:t>🎥 Demonstração ao vivo em vídeo anexo.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A6A57"/>
                </a:solidFill>
                <a:latin typeface="Segoe UI"/>
              </a:rPr>
              <a:t>GovFlow AI — Enterprise Challenge Claro × Startup One (FIAP)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A6A57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D7A35"/>
                </a:solidFill>
                <a:latin typeface="Segoe U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E3D1A"/>
                </a:solidFill>
                <a:latin typeface="Segoe UI"/>
              </a:rPr>
              <a:t>Demonstração Funcional — Portal Web e Robô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A6A57"/>
                </a:solidFill>
                <a:latin typeface="Segoe UI"/>
              </a:rPr>
              <a:t>Gestão centralizada com login único e automação real em execução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1005840" cy="41148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21208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E3D1A"/>
                </a:solidFill>
                <a:latin typeface="Segoe UI"/>
              </a:rPr>
              <a:t>🔐  Portal Web (SSO)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46634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11A0F"/>
                </a:solidFill>
                <a:latin typeface="Segoe UI"/>
              </a:rPr>
              <a:t>—  Login único — sem senha própria do GovFlow AI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A0F"/>
                </a:solidFill>
                <a:latin typeface="Segoe UI"/>
              </a:rPr>
              <a:t>—  Acesso ao dashboard já identifica o escritório automaticamente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A0F"/>
                </a:solidFill>
                <a:latin typeface="Segoe UI"/>
              </a:rPr>
              <a:t>—  Cada escritório só enxerga os próprios dados (isolamento multi-tenant)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A0F"/>
                </a:solidFill>
                <a:latin typeface="Segoe UI"/>
              </a:rPr>
              <a:t>—  Sessão protegida por cookie seguro, com expiração e renovação automática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03120"/>
            <a:ext cx="534924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233172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E3D1A"/>
                </a:solidFill>
                <a:latin typeface="Segoe UI"/>
              </a:rPr>
              <a:t>🤖  Robô em Ação (RPA)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880360"/>
            <a:ext cx="48463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11A0F"/>
                </a:solidFill>
                <a:latin typeface="Segoe UI"/>
              </a:rPr>
              <a:t>—  Abre o portal do governo automaticamente, sem intervenção humana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A0F"/>
                </a:solidFill>
                <a:latin typeface="Segoe UI"/>
              </a:rPr>
              <a:t>—  Preenche CNPJ, Razão Social, Capital Social e quadro societário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A0F"/>
                </a:solidFill>
                <a:latin typeface="Segoe UI"/>
              </a:rPr>
              <a:t>—  Envia o formulário e captura o protocolo gerado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A0F"/>
                </a:solidFill>
                <a:latin typeface="Segoe UI"/>
              </a:rPr>
              <a:t>—  Hoje validado contra um portal de testes; próxima etapa é o portal governamental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A6A57"/>
                </a:solidFill>
                <a:latin typeface="Segoe UI"/>
              </a:rPr>
              <a:t>GovFlow AI — Enterprise Challenge Claro × Startup One (FIAP)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A6A57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D7A35"/>
                </a:solidFill>
                <a:latin typeface="Segoe UI"/>
              </a:rPr>
              <a:t>DESTAQUE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Hub de IA Conversacional: Como Funciona e Qual Valor Gera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05840" cy="41148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257800" cy="4206240"/>
          </a:xfrm>
          <a:prstGeom prst="roundRect">
            <a:avLst>
              <a:gd name="adj" fmla="val 5000"/>
            </a:avLst>
          </a:prstGeom>
          <a:solidFill>
            <a:srgbClr val="244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A9E50"/>
                </a:solidFill>
                <a:latin typeface="Segoe UI"/>
              </a:rPr>
              <a:t>COMO FUNCIONA HOJE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47091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 b="1">
                <a:solidFill>
                  <a:srgbClr val="5A9E50"/>
                </a:solidFill>
                <a:latin typeface="Segoe UI"/>
              </a:rPr>
              <a:t>—  Máquina de estados por conversa —  </a:t>
            </a:r>
            <a:r>
              <a:rPr sz="1300" b="0">
                <a:solidFill>
                  <a:srgbClr val="F5F5DC"/>
                </a:solidFill>
                <a:latin typeface="Segoe UI"/>
              </a:rPr>
              <a:t> o bot sabe em qual etapa cada usuário está (escolhendo serviço, aguardando documento, em processamento) e responde de forma contextual.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5A9E50"/>
                </a:solidFill>
                <a:latin typeface="Segoe UI"/>
              </a:rPr>
              <a:t>—  Pipeline assíncrono —  </a:t>
            </a:r>
            <a:r>
              <a:rPr sz="1300" b="0">
                <a:solidFill>
                  <a:srgbClr val="F5F5DC"/>
                </a:solidFill>
                <a:latin typeface="Segoe UI"/>
              </a:rPr>
              <a:t> o upload não trava o chat; o processamento roda em segundo plano enquanto o usuário continua livre.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5A9E50"/>
                </a:solidFill>
                <a:latin typeface="Segoe UI"/>
              </a:rPr>
              <a:t>—  Feedback proativo —  </a:t>
            </a:r>
            <a:r>
              <a:rPr sz="1300" b="0">
                <a:solidFill>
                  <a:srgbClr val="F5F5DC"/>
                </a:solidFill>
                <a:latin typeface="Segoe UI"/>
              </a:rPr>
              <a:t> cada etapa do robô (OCR, RPA, conclusão) vira uma mensagem automática no chat, em tempo real, sem o usuário precisar perguntar "como está o andamento?".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5A9E50"/>
                </a:solidFill>
                <a:latin typeface="Segoe UI"/>
              </a:rPr>
              <a:t>—  Desacoplado de canal —  </a:t>
            </a:r>
            <a:r>
              <a:rPr sz="1300" b="0">
                <a:solidFill>
                  <a:srgbClr val="F5F5DC"/>
                </a:solidFill>
                <a:latin typeface="Segoe UI"/>
              </a:rPr>
              <a:t> a mesma lógica de conversa já está pronta para receber WhatsApp real, sem reescrever o núcleo do produto.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82880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205740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D5A27"/>
                </a:solidFill>
                <a:latin typeface="Segoe UI"/>
              </a:rPr>
              <a:t>VALOR GERADO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51460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 b="1">
                <a:solidFill>
                  <a:srgbClr val="2D5A27"/>
                </a:solidFill>
                <a:latin typeface="Segoe UI"/>
              </a:rPr>
              <a:t>—  Zero fricção de adoção —  </a:t>
            </a:r>
            <a:r>
              <a:rPr sz="1300" b="0">
                <a:solidFill>
                  <a:srgbClr val="1E3D1A"/>
                </a:solidFill>
                <a:latin typeface="Segoe UI"/>
              </a:rPr>
              <a:t> o contador usa uma ferramenta que ele já sabe usar (chat), sem treinamento.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2D5A27"/>
                </a:solidFill>
                <a:latin typeface="Segoe UI"/>
              </a:rPr>
              <a:t>—  Visibilidade sem esforço —  </a:t>
            </a:r>
            <a:r>
              <a:rPr sz="1300" b="0">
                <a:solidFill>
                  <a:srgbClr val="1E3D1A"/>
                </a:solidFill>
                <a:latin typeface="Segoe UI"/>
              </a:rPr>
              <a:t> o usuário nunca precisa "checar status" — a informação vem até ele.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2D5A27"/>
                </a:solidFill>
                <a:latin typeface="Segoe UI"/>
              </a:rPr>
              <a:t>—  Prova de valor imediata —  </a:t>
            </a:r>
            <a:r>
              <a:rPr sz="1300" b="0">
                <a:solidFill>
                  <a:srgbClr val="1E3D1A"/>
                </a:solidFill>
                <a:latin typeface="Segoe UI"/>
              </a:rPr>
              <a:t> cada interação já nasce instrumentada, alimentando o cálculo de ROI da gestão.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2D5A27"/>
                </a:solidFill>
                <a:latin typeface="Segoe UI"/>
              </a:rPr>
              <a:t>—  Arquitetura pronta para escalar —  </a:t>
            </a:r>
            <a:r>
              <a:rPr sz="1300" b="0">
                <a:solidFill>
                  <a:srgbClr val="1E3D1A"/>
                </a:solidFill>
                <a:latin typeface="Segoe UI"/>
              </a:rPr>
              <a:t> o mesmo Hub atende múltiplos canais e múltiplos serviços de governo sem reescrever a base.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B9CCB6"/>
                </a:solidFill>
                <a:latin typeface="Segoe UI"/>
              </a:rPr>
              <a:t>GovFlow AI — Enterprise Challenge Claro × Startup One (FIAP)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B9CCB6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D7A35"/>
                </a:solidFill>
                <a:latin typeface="Segoe U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E3D1A"/>
                </a:solidFill>
                <a:latin typeface="Segoe UI"/>
              </a:rPr>
              <a:t>O Que Falta Para 100%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A6A57"/>
                </a:solidFill>
                <a:latin typeface="Segoe UI"/>
              </a:rPr>
              <a:t>Gap honesto por camada — próximos passos definidos, não um vazio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1005840" cy="41148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352044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3520440" cy="502920"/>
          </a:xfrm>
          <a:prstGeom prst="roundRect">
            <a:avLst>
              <a:gd name="adj" fmla="val 12000"/>
            </a:avLst>
          </a:prstGeom>
          <a:solidFill>
            <a:srgbClr val="EDE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59" y="228600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3D1A"/>
                </a:solidFill>
                <a:latin typeface="Segoe UI"/>
              </a:rPr>
              <a:t>Camada 1 — 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3063240" cy="897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 b="0" dirty="0">
                <a:solidFill>
                  <a:srgbClr val="111A0F"/>
                </a:solidFill>
                <a:latin typeface="Segoe UI"/>
              </a:rPr>
              <a:t>○  </a:t>
            </a:r>
            <a:r>
              <a:rPr sz="1100" b="0" dirty="0" err="1">
                <a:solidFill>
                  <a:srgbClr val="111A0F"/>
                </a:solidFill>
                <a:latin typeface="Segoe UI"/>
              </a:rPr>
              <a:t>Integração</a:t>
            </a:r>
            <a:r>
              <a:rPr sz="1100" b="0" dirty="0">
                <a:solidFill>
                  <a:srgbClr val="111A0F"/>
                </a:solidFill>
                <a:latin typeface="Segoe UI"/>
              </a:rPr>
              <a:t> real com WhatsApp Business API (</a:t>
            </a:r>
            <a:r>
              <a:rPr sz="1100" b="0" dirty="0" err="1">
                <a:solidFill>
                  <a:srgbClr val="111A0F"/>
                </a:solidFill>
                <a:latin typeface="Segoe UI"/>
              </a:rPr>
              <a:t>hoje</a:t>
            </a:r>
            <a:r>
              <a:rPr sz="1100" b="0" dirty="0">
                <a:solidFill>
                  <a:srgbClr val="111A0F"/>
                </a:solidFill>
                <a:latin typeface="Segoe UI"/>
              </a:rPr>
              <a:t>: webchat)</a:t>
            </a:r>
          </a:p>
          <a:p>
            <a:pPr>
              <a:spcAft>
                <a:spcPts val="1000"/>
              </a:spcAft>
            </a:pPr>
            <a:r>
              <a:rPr sz="1100" b="0" dirty="0">
                <a:solidFill>
                  <a:srgbClr val="111A0F"/>
                </a:solidFill>
                <a:latin typeface="Segoe UI"/>
              </a:rPr>
              <a:t>○  IdP real da Claro no </a:t>
            </a:r>
            <a:r>
              <a:rPr sz="1100" b="0" dirty="0" err="1">
                <a:solidFill>
                  <a:srgbClr val="111A0F"/>
                </a:solidFill>
                <a:latin typeface="Segoe UI"/>
              </a:rPr>
              <a:t>lugar</a:t>
            </a:r>
            <a:r>
              <a:rPr sz="1100" b="0" dirty="0">
                <a:solidFill>
                  <a:srgbClr val="111A0F"/>
                </a:solidFill>
                <a:latin typeface="Segoe UI"/>
              </a:rPr>
              <a:t> do </a:t>
            </a:r>
            <a:r>
              <a:rPr sz="1100" b="0" dirty="0" err="1">
                <a:solidFill>
                  <a:srgbClr val="111A0F"/>
                </a:solidFill>
                <a:latin typeface="Segoe UI"/>
              </a:rPr>
              <a:t>simulador</a:t>
            </a:r>
            <a:r>
              <a:rPr sz="1100" b="0" dirty="0">
                <a:solidFill>
                  <a:srgbClr val="111A0F"/>
                </a:solidFill>
                <a:latin typeface="Segoe UI"/>
              </a:rPr>
              <a:t> de SSO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48840"/>
            <a:ext cx="352044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43400" y="2148840"/>
            <a:ext cx="3520440" cy="502920"/>
          </a:xfrm>
          <a:prstGeom prst="roundRect">
            <a:avLst>
              <a:gd name="adj" fmla="val 12000"/>
            </a:avLst>
          </a:prstGeom>
          <a:solidFill>
            <a:srgbClr val="EDE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28600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3D1A"/>
                </a:solidFill>
                <a:latin typeface="Segoe UI"/>
              </a:rPr>
              <a:t>Camada 2 — 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834640"/>
            <a:ext cx="3063240" cy="897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 b="0" dirty="0">
                <a:solidFill>
                  <a:srgbClr val="111A0F"/>
                </a:solidFill>
                <a:latin typeface="Segoe UI"/>
              </a:rPr>
              <a:t>○  Banco de dados PostgreSQL com o Star Schema (</a:t>
            </a:r>
            <a:r>
              <a:rPr sz="1100" b="0" dirty="0" err="1">
                <a:solidFill>
                  <a:srgbClr val="111A0F"/>
                </a:solidFill>
                <a:latin typeface="Segoe UI"/>
              </a:rPr>
              <a:t>fato</a:t>
            </a:r>
            <a:r>
              <a:rPr sz="1100" b="0" dirty="0">
                <a:solidFill>
                  <a:srgbClr val="111A0F"/>
                </a:solidFill>
                <a:latin typeface="Segoe UI"/>
              </a:rPr>
              <a:t> + </a:t>
            </a:r>
            <a:r>
              <a:rPr sz="1100" b="0" dirty="0" err="1">
                <a:solidFill>
                  <a:srgbClr val="111A0F"/>
                </a:solidFill>
                <a:latin typeface="Segoe UI"/>
              </a:rPr>
              <a:t>dimensões</a:t>
            </a:r>
            <a:r>
              <a:rPr sz="1100" b="0" dirty="0">
                <a:solidFill>
                  <a:srgbClr val="111A0F"/>
                </a:solidFill>
                <a:latin typeface="Segoe UI"/>
              </a:rPr>
              <a:t>)</a:t>
            </a:r>
          </a:p>
          <a:p>
            <a:pPr>
              <a:spcAft>
                <a:spcPts val="1000"/>
              </a:spcAft>
            </a:pPr>
            <a:r>
              <a:rPr sz="1100" b="0" dirty="0">
                <a:solidFill>
                  <a:srgbClr val="111A0F"/>
                </a:solidFill>
                <a:latin typeface="Segoe UI"/>
              </a:rPr>
              <a:t>○  RPA contra o portal </a:t>
            </a:r>
            <a:r>
              <a:rPr sz="1100" b="0" dirty="0" err="1">
                <a:solidFill>
                  <a:srgbClr val="111A0F"/>
                </a:solidFill>
                <a:latin typeface="Segoe UI"/>
              </a:rPr>
              <a:t>governamental</a:t>
            </a:r>
            <a:r>
              <a:rPr sz="1100" b="0" dirty="0">
                <a:solidFill>
                  <a:srgbClr val="111A0F"/>
                </a:solidFill>
                <a:latin typeface="Segoe UI"/>
              </a:rPr>
              <a:t> real (</a:t>
            </a:r>
            <a:r>
              <a:rPr sz="1100" b="0" dirty="0" err="1">
                <a:solidFill>
                  <a:srgbClr val="111A0F"/>
                </a:solidFill>
                <a:latin typeface="Segoe UI"/>
              </a:rPr>
              <a:t>hoje</a:t>
            </a:r>
            <a:r>
              <a:rPr sz="1100" b="0" dirty="0">
                <a:solidFill>
                  <a:srgbClr val="111A0F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111A0F"/>
                </a:solidFill>
                <a:latin typeface="Segoe UI"/>
              </a:rPr>
              <a:t>ambiente</a:t>
            </a:r>
            <a:r>
              <a:rPr sz="1100" b="0" dirty="0">
                <a:solidFill>
                  <a:srgbClr val="111A0F"/>
                </a:solidFill>
                <a:latin typeface="Segoe UI"/>
              </a:rPr>
              <a:t> de testes)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148840"/>
            <a:ext cx="352044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046719" y="2148840"/>
            <a:ext cx="3520440" cy="502920"/>
          </a:xfrm>
          <a:prstGeom prst="roundRect">
            <a:avLst>
              <a:gd name="adj" fmla="val 12000"/>
            </a:avLst>
          </a:prstGeom>
          <a:solidFill>
            <a:srgbClr val="EDE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599" y="228600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3D1A"/>
                </a:solidFill>
                <a:latin typeface="Segoe UI"/>
              </a:rPr>
              <a:t>Camada 3 —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83464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 b="0">
                <a:solidFill>
                  <a:srgbClr val="111A0F"/>
                </a:solidFill>
                <a:latin typeface="Segoe UI"/>
              </a:rPr>
              <a:t>○  Status Board com histórico real de automações (hoje: mock visual)</a:t>
            </a:r>
          </a:p>
          <a:p>
            <a:pPr>
              <a:spcAft>
                <a:spcPts val="1000"/>
              </a:spcAft>
            </a:pPr>
            <a:r>
              <a:rPr sz="1100" b="0">
                <a:solidFill>
                  <a:srgbClr val="111A0F"/>
                </a:solidFill>
                <a:latin typeface="Segoe UI"/>
              </a:rPr>
              <a:t>○  Gráficos de ROI (tempo economizado, distribuição por canal)</a:t>
            </a:r>
          </a:p>
          <a:p>
            <a:pPr>
              <a:spcAft>
                <a:spcPts val="1000"/>
              </a:spcAft>
            </a:pPr>
            <a:r>
              <a:rPr sz="1100" b="0">
                <a:solidFill>
                  <a:srgbClr val="111A0F"/>
                </a:solidFill>
                <a:latin typeface="Segoe UI"/>
              </a:rPr>
              <a:t>○  Contador de uso e gestão de plano Freemium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A6A57"/>
                </a:solidFill>
                <a:latin typeface="Segoe UI"/>
              </a:rPr>
              <a:t>GovFlow AI — Enterprise Challenge Claro × Startup One (FIAP)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A6A57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D7A35"/>
                </a:solidFill>
                <a:latin typeface="Segoe UI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O Valor do GovFlow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05840" cy="41148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>
                <a:solidFill>
                  <a:srgbClr val="FFFFFF"/>
                </a:solidFill>
                <a:latin typeface="Segoe UI"/>
              </a:rPr>
              <a:t>Transformamos um processo manual, repetitivo e invisível em uma jornada conversacional, automatizada e mensurável — </a:t>
            </a:r>
            <a:r>
              <a:rPr sz="1650" b="1" i="0">
                <a:solidFill>
                  <a:srgbClr val="DCEFD9"/>
                </a:solidFill>
                <a:latin typeface="Segoe UI"/>
              </a:rPr>
              <a:t>do envio de um documento no chat até o protocolo no governo, sem o contador tocar em um portal.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3756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244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3520440" cy="64008"/>
          </a:xfrm>
          <a:prstGeom prst="roundRect">
            <a:avLst>
              <a:gd name="adj" fmla="val 50000"/>
            </a:avLst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3611880"/>
            <a:ext cx="3063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Segoe UI"/>
              </a:rPr>
              <a:t>Já funciona de ponta a ponta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06240"/>
            <a:ext cx="30632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FE4CC"/>
                </a:solidFill>
                <a:latin typeface="Segoe UI"/>
              </a:rPr>
              <a:t>Webchat, SSO e robô real já entregam o fluxo completo em ambiente de testes.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333756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244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43400" y="3337560"/>
            <a:ext cx="3520440" cy="64008"/>
          </a:xfrm>
          <a:prstGeom prst="roundRect">
            <a:avLst>
              <a:gd name="adj" fmla="val 50000"/>
            </a:avLst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3611880"/>
            <a:ext cx="3063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Segoe UI"/>
              </a:rPr>
              <a:t>Arquitetura pronta para escalar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206240"/>
            <a:ext cx="30632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FE4CC"/>
                </a:solidFill>
                <a:latin typeface="Segoe UI"/>
              </a:rPr>
              <a:t>3 camadas desacopladas — trocar OCR, canal ou banco não exige reescrever o produto.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333756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244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046719" y="3337560"/>
            <a:ext cx="3520440" cy="64008"/>
          </a:xfrm>
          <a:prstGeom prst="roundRect">
            <a:avLst>
              <a:gd name="adj" fmla="val 50000"/>
            </a:avLst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19" y="3611880"/>
            <a:ext cx="3063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Segoe UI"/>
              </a:rPr>
              <a:t>Nasce medindo ROI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4206240"/>
            <a:ext cx="30632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FE4CC"/>
                </a:solidFill>
                <a:latin typeface="Segoe UI"/>
              </a:rPr>
              <a:t>Cada automação já é desenhada para provar, com números, o tempo que ela economiza.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26364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1">
                <a:solidFill>
                  <a:srgbClr val="5A9E50"/>
                </a:solidFill>
                <a:latin typeface="Segoe UI"/>
              </a:rPr>
              <a:t>GovFlow AI — menos tempo em portal, mais tempo com o cliente.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1641</Words>
  <Application>Microsoft Office PowerPoint</Application>
  <PresentationFormat>Widescreen</PresentationFormat>
  <Paragraphs>208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UI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Pedro Henrique Amancio Lopes</cp:lastModifiedBy>
  <cp:revision>3</cp:revision>
  <dcterms:created xsi:type="dcterms:W3CDTF">2013-01-27T09:14:16Z</dcterms:created>
  <dcterms:modified xsi:type="dcterms:W3CDTF">2026-08-11T01:25:07Z</dcterms:modified>
  <cp:category/>
</cp:coreProperties>
</file>