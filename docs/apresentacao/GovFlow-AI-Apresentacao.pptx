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91440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2A4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200" b="1">
                <a:solidFill>
                  <a:srgbClr val="5A9E50"/>
                </a:solidFill>
                <a:latin typeface="Calibri"/>
              </a:rPr>
              <a:t>VÍDEO-PITCH STARTUP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8229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GovFlow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9184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B8D9B2"/>
                </a:solidFill>
                <a:latin typeface="Calibri"/>
              </a:rPr>
              <a:t>Automação Inteligente de Processos Governamentais para Contadores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8FB089"/>
                </a:solidFill>
                <a:latin typeface="Calibri"/>
              </a:rPr>
              <a:t>Startup One — FIAP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663440"/>
            <a:ext cx="2011680" cy="31750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Problema e Solução · Mercado e Concorrentes · Produto · Go to Market · Road Map ·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84848"/>
            <a:ext cx="12191695" cy="38100"/>
          </a:xfrm>
          <a:prstGeom prst="rect">
            <a:avLst/>
          </a:prstGeom>
          <a:solidFill>
            <a:srgbClr val="3D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D5A27"/>
                </a:solidFill>
                <a:latin typeface="Calibr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9496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E3D1A"/>
                </a:solidFill>
                <a:latin typeface="Calibri"/>
              </a:rPr>
              <a:t>O Problema e 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7C68"/>
                </a:solidFill>
                <a:latin typeface="Calibri"/>
              </a:rPr>
              <a:t>Automação de ponta a ponta para escritórios de contabilidade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310896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CRITÉRIO A — 5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694944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2D5A27"/>
                </a:solidFill>
                <a:latin typeface="Calibri"/>
              </a:rPr>
              <a:t>0:10 – 0:45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371600" cy="3175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9AA88E"/>
                </a:solidFill>
                <a:latin typeface="Calibri"/>
              </a:rPr>
              <a:t>GovFlow AI — Vídeo-Pitch Startup One (FIAP)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88E"/>
                </a:solidFill>
                <a:latin typeface="Calibri"/>
              </a:rPr>
              <a:t>2/10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74520"/>
            <a:ext cx="5349240" cy="3657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1488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O PROBLEMA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0604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E3D1A"/>
                </a:solidFill>
                <a:latin typeface="Calibri"/>
              </a:rPr>
              <a:t>Roberto, contador PJ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191256"/>
            <a:ext cx="82296" cy="82296"/>
          </a:xfrm>
          <a:prstGeom prst="roundRect">
            <a:avLst>
              <a:gd name="adj" fmla="val 100000"/>
            </a:avLst>
          </a:prstGeom>
          <a:solidFill>
            <a:srgbClr val="6B7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3108960"/>
            <a:ext cx="4434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11A0F"/>
                </a:solidFill>
                <a:latin typeface="Calibri"/>
              </a:rPr>
              <a:t>Perde boa parte do tempo útil do escritório em trabalho manual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968496"/>
            <a:ext cx="82296" cy="82296"/>
          </a:xfrm>
          <a:prstGeom prst="roundRect">
            <a:avLst>
              <a:gd name="adj" fmla="val 100000"/>
            </a:avLst>
          </a:prstGeom>
          <a:solidFill>
            <a:srgbClr val="6B7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3886200"/>
            <a:ext cx="4434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11A0F"/>
                </a:solidFill>
                <a:latin typeface="Calibri"/>
              </a:rPr>
              <a:t>Triagem de documentos, redigitação de dados, protocolo em portais como o Redesim e o e-CAC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745736"/>
            <a:ext cx="82296" cy="82296"/>
          </a:xfrm>
          <a:prstGeom prst="roundRect">
            <a:avLst>
              <a:gd name="adj" fmla="val 100000"/>
            </a:avLst>
          </a:prstGeom>
          <a:solidFill>
            <a:srgbClr val="6B7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663440"/>
            <a:ext cx="4434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11A0F"/>
                </a:solidFill>
                <a:latin typeface="Calibri"/>
              </a:rPr>
              <a:t>Um processo que leva em média 40 minutos por abertura de empresa — e se repete a cada cliente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874520"/>
            <a:ext cx="5349240" cy="3657600"/>
          </a:xfrm>
          <a:prstGeom prst="roundRect">
            <a:avLst>
              <a:gd name="adj" fmla="val 45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75120" y="2148840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2D5A27"/>
                </a:solidFill>
                <a:latin typeface="Calibri"/>
              </a:rPr>
              <a:t>A SOLUÇÃO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60604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E3D1A"/>
                </a:solidFill>
                <a:latin typeface="Calibri"/>
              </a:rPr>
              <a:t>GovFlow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1089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D5A27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3108960"/>
            <a:ext cx="4434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11A0F"/>
                </a:solidFill>
                <a:latin typeface="Calibri"/>
              </a:rPr>
              <a:t>Contador envia um documento pelo webchat ou pelo portal — login validado contra o banco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67588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D5A27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675888"/>
            <a:ext cx="4434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11A0F"/>
                </a:solidFill>
                <a:latin typeface="Calibri"/>
              </a:rPr>
              <a:t>IA extrai CNPJ, Razão Social e sócios em segundos, direto do documento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24281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D5A27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4242816"/>
            <a:ext cx="4434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11A0F"/>
                </a:solidFill>
                <a:latin typeface="Calibri"/>
              </a:rPr>
              <a:t>Robô preenche o portal do governo e devolve o protocolo, exibido na própria tela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80974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D5A27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4809744"/>
            <a:ext cx="4434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11A0F"/>
                </a:solidFill>
                <a:latin typeface="Calibri"/>
              </a:rPr>
              <a:t>Processo cai de ~40 minutos para poucos minutos, com histórico completo gravado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D5A27"/>
                </a:solidFill>
                <a:latin typeface="Calibr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9496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E3D1A"/>
                </a:solidFill>
                <a:latin typeface="Calibri"/>
              </a:rPr>
              <a:t>Mercado, Proposta de Valor e Receita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7C68"/>
                </a:solidFill>
                <a:latin typeface="Calibri"/>
              </a:rPr>
              <a:t>Detalhes do negócio — segmento, proposta de valor e modelo de receita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310896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CRITÉRIO B — 5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694944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2D5A27"/>
                </a:solidFill>
                <a:latin typeface="Calibri"/>
              </a:rPr>
              <a:t>0:45 – 1:20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371600" cy="3175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9AA88E"/>
                </a:solidFill>
                <a:latin typeface="Calibri"/>
              </a:rPr>
              <a:t>GovFlow AI — Vídeo-Pitch Startup One (FIAP)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88E"/>
                </a:solidFill>
                <a:latin typeface="Calibri"/>
              </a:rPr>
              <a:t>3/10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74520"/>
            <a:ext cx="111556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574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D5A27"/>
                </a:solidFill>
                <a:latin typeface="Calibri"/>
              </a:rPr>
              <a:t>SEGMENTO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50008"/>
            <a:ext cx="105156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11A0F"/>
                </a:solidFill>
                <a:latin typeface="Calibri"/>
              </a:rPr>
              <a:t>Escritórios de contabilidade de pequeno/médio porte no Brasil — persona Roberto, sócio-diretor responsável por múltiplos clientes PJ, que perde tempo útil em trabalho manual de triagem, digitação e protocolo em portais governamentais (Redesim, e-CAC).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57600"/>
            <a:ext cx="11155680" cy="1188720"/>
          </a:xfrm>
          <a:prstGeom prst="roundRect">
            <a:avLst>
              <a:gd name="adj" fmla="val 4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2219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D5A27"/>
                </a:solidFill>
                <a:latin typeface="Calibri"/>
              </a:rPr>
              <a:t>PROPOSTA DE VALOR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1148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11A0F"/>
                </a:solidFill>
                <a:latin typeface="Calibri"/>
              </a:rPr>
              <a:t>Transforma um processo manual de ~40 minutos em um fluxo conversacional de poucos minutos — cada automação já nasce registrando o tempo economizado, prova de ROI mensurável desde o primeiro uso.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74920"/>
            <a:ext cx="35661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D5A27"/>
                </a:solidFill>
                <a:latin typeface="Calibri"/>
              </a:rPr>
              <a:t>Free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C68"/>
                </a:solidFill>
                <a:latin typeface="Calibri"/>
              </a:rPr>
              <a:t>5 documentos/mês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5074920"/>
            <a:ext cx="35661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52120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D5A27"/>
                </a:solidFill>
                <a:latin typeface="Calibri"/>
              </a:rPr>
              <a:t>Pro — R$ 299/mês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55778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C68"/>
                </a:solidFill>
                <a:latin typeface="Calibri"/>
              </a:rPr>
              <a:t>100 documentos/mês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5074920"/>
            <a:ext cx="35661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52120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D5A27"/>
                </a:solidFill>
                <a:latin typeface="Calibri"/>
              </a:rPr>
              <a:t>Lançamento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55778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7C68"/>
                </a:solidFill>
                <a:latin typeface="Calibri"/>
              </a:rPr>
              <a:t>Onboarding grátis p/ 50 escritórios-piloto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9E50"/>
                </a:solidFill>
                <a:latin typeface="Calibr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9496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Concorrentes e Diferenciais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B8D9B2"/>
                </a:solidFill>
                <a:latin typeface="Calibri"/>
              </a:rPr>
              <a:t>Nenhum concorrente direto encontrado — espaço em branco real de mercado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310896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CRITÉRIO B — 5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694944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A4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5A9E50"/>
                </a:solidFill>
                <a:latin typeface="Calibri"/>
              </a:rPr>
              <a:t>1:20 – 1:55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371600" cy="31750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4A6A44"/>
                </a:solidFill>
                <a:latin typeface="Calibri"/>
              </a:rPr>
              <a:t>GovFlow AI — Vídeo-Pitch Startup One (FIAP)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4A6A44"/>
                </a:solidFill>
                <a:latin typeface="Calibri"/>
              </a:rPr>
              <a:t>4/10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11155680" cy="777240"/>
          </a:xfrm>
          <a:prstGeom prst="roundRect">
            <a:avLst>
              <a:gd name="adj" fmla="val 6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4767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ERPs contábeis tradicionais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947672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B8D9B2"/>
                </a:solidFill>
                <a:latin typeface="Calibri"/>
              </a:rPr>
              <a:t>Domínio, Alterdata, Questor, SCI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1947672"/>
            <a:ext cx="4023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9E50"/>
                </a:solidFill>
                <a:latin typeface="Calibri"/>
              </a:rPr>
              <a:t>Sem IA conversacional nem RPA ponta a ponta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43200"/>
            <a:ext cx="11155680" cy="777240"/>
          </a:xfrm>
          <a:prstGeom prst="roundRect">
            <a:avLst>
              <a:gd name="adj" fmla="val 6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86207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Captura/robótica pontual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862072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B8D9B2"/>
                </a:solidFill>
                <a:latin typeface="Calibri"/>
              </a:rPr>
              <a:t>e-Auditoria, Robolabs, Altersystem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862072"/>
            <a:ext cx="4023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9E50"/>
                </a:solidFill>
                <a:latin typeface="Calibri"/>
              </a:rPr>
              <a:t>Só arquivos já estruturados (XML/DARF)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11155680" cy="777240"/>
          </a:xfrm>
          <a:prstGeom prst="roundRect">
            <a:avLst>
              <a:gd name="adj" fmla="val 6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77647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Gestão/BI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3776472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B8D9B2"/>
                </a:solidFill>
                <a:latin typeface="Calibri"/>
              </a:rPr>
              <a:t>Nibo, HubCount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776472"/>
            <a:ext cx="4023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9E50"/>
                </a:solidFill>
                <a:latin typeface="Calibri"/>
              </a:rPr>
              <a:t>Foco em gestão financeira, não em RPA de portal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63440"/>
            <a:ext cx="11155680" cy="1371600"/>
          </a:xfrm>
          <a:prstGeom prst="roundRect">
            <a:avLst>
              <a:gd name="adj" fmla="val 5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28032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D5A27"/>
                </a:solidFill>
                <a:latin typeface="Calibri"/>
              </a:rPr>
              <a:t>Diferenciais do GovFlow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66360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11A0F"/>
                </a:solidFill>
                <a:latin typeface="Calibri"/>
              </a:rPr>
              <a:t>Hub conversacional como porta de entrada  ·  IA lê documentos não estruturados  ·  Confirmação humana antes de agir no portal  ·  Cobre Redesim + e-CAC num só painel  ·  Freemium acessível (R$ 299/mês) vs. ERPs corporativos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D5A27"/>
                </a:solidFill>
                <a:latin typeface="Calibr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9496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E3D1A"/>
                </a:solidFill>
                <a:latin typeface="Calibri"/>
              </a:rPr>
              <a:t>Projeções Financeiras e Breakeven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7C68"/>
                </a:solidFill>
                <a:latin typeface="Calibri"/>
              </a:rPr>
              <a:t>Unit economics e ponto de equilíbrio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310896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CRITÉRIO B — 5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694944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2D5A27"/>
                </a:solidFill>
                <a:latin typeface="Calibri"/>
              </a:rPr>
              <a:t>1:55 – 2:35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371600" cy="3175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9AA88E"/>
                </a:solidFill>
                <a:latin typeface="Calibri"/>
              </a:rPr>
              <a:t>GovFlow AI — Vídeo-Pitch Startup One (FIAP)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88E"/>
                </a:solidFill>
                <a:latin typeface="Calibri"/>
              </a:rPr>
              <a:t>5/10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2606040" cy="5080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971040"/>
            <a:ext cx="2606040" cy="2286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D5A27"/>
                </a:solidFill>
                <a:latin typeface="Calibri"/>
              </a:rPr>
              <a:t>R$ 219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8036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3D1A"/>
                </a:solidFill>
                <a:latin typeface="Calibri"/>
              </a:rPr>
              <a:t>Margem de Contribuição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461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B7C68"/>
                </a:solidFill>
                <a:latin typeface="Calibri"/>
              </a:rPr>
              <a:t>por cliente do plano Pro/mês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1920240"/>
            <a:ext cx="2606040" cy="5080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37560" y="1971040"/>
            <a:ext cx="2606040" cy="2286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219456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D5A27"/>
                </a:solidFill>
                <a:latin typeface="Calibri"/>
              </a:rPr>
              <a:t>R$ 250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88036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3D1A"/>
                </a:solidFill>
                <a:latin typeface="Calibri"/>
              </a:rPr>
              <a:t>CAC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2461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B7C68"/>
                </a:solidFill>
                <a:latin typeface="Calibri"/>
              </a:rPr>
              <a:t>custo de aquisição por cliente pago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1920240"/>
            <a:ext cx="2606040" cy="5080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72200" y="1971040"/>
            <a:ext cx="2606040" cy="2286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19456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D5A27"/>
                </a:solidFill>
                <a:latin typeface="Calibri"/>
              </a:rPr>
              <a:t>15,77×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88036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3D1A"/>
                </a:solidFill>
                <a:latin typeface="Calibri"/>
              </a:rPr>
              <a:t>LTV / CAC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2461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B7C68"/>
                </a:solidFill>
                <a:latin typeface="Calibri"/>
              </a:rPr>
              <a:t>saudável — benchmark é &gt; 3×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06840" y="1920240"/>
            <a:ext cx="2606040" cy="5080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06840" y="1971040"/>
            <a:ext cx="2606040" cy="2286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0" y="219456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D5A27"/>
                </a:solidFill>
                <a:latin typeface="Calibri"/>
              </a:rPr>
              <a:t>Mês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88036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3D1A"/>
                </a:solidFill>
                <a:latin typeface="Calibri"/>
              </a:rPr>
              <a:t>Breakeven Operacional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2461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B7C68"/>
                </a:solidFill>
                <a:latin typeface="Calibri"/>
              </a:rPr>
              <a:t>18 clientes pagos ativos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572000"/>
            <a:ext cx="11155680" cy="1417320"/>
          </a:xfrm>
          <a:prstGeom prst="roundRect">
            <a:avLst>
              <a:gd name="adj" fmla="val 4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736592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D5A27"/>
                </a:solidFill>
                <a:latin typeface="Calibri"/>
              </a:rPr>
              <a:t>Breakeven = Custo Fixo (R$ 3.800) ÷ Margem de Contribuição (R$ 219) = 17,35 ≈ 18 clientes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120640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11A0F"/>
                </a:solidFill>
                <a:latin typeface="Calibri"/>
              </a:rPr>
              <a:t>Breakeven operacional no Mês 3, conforme a meta. O fluxo de caixa acumulado se aproxima do equilíbrio ao final do Mês 6 (-R$ 3.735) e projeta breakeven de caixa por volta do Mês 8 — padrão esperado e saudável para uma startup SaaS em estágio inicial.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9E50"/>
                </a:solidFill>
                <a:latin typeface="Calibr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9496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Produto — Como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B8D9B2"/>
                </a:solidFill>
                <a:latin typeface="Calibri"/>
              </a:rPr>
              <a:t>Do documento ao protocolo, com IA e RPA reais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310896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CRITÉRIO C — 5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694944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A4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5A9E50"/>
                </a:solidFill>
                <a:latin typeface="Calibri"/>
              </a:rPr>
              <a:t>2:35 – 3:20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371600" cy="31750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4A6A44"/>
                </a:solidFill>
                <a:latin typeface="Calibri"/>
              </a:rPr>
              <a:t>GovFlow AI — Vídeo-Pitch Startup One (FIAP)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4A6A44"/>
                </a:solidFill>
                <a:latin typeface="Calibri"/>
              </a:rPr>
              <a:t>6/10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011680"/>
            <a:ext cx="2651760" cy="2011680"/>
          </a:xfrm>
          <a:prstGeom prst="roundRect">
            <a:avLst>
              <a:gd name="adj" fmla="val 6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240280"/>
            <a:ext cx="457200" cy="457200"/>
          </a:xfrm>
          <a:prstGeom prst="ellipse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1E3D1A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80360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Envio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18688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B8D9B2"/>
                </a:solidFill>
                <a:latin typeface="Calibri"/>
              </a:rPr>
              <a:t>Contador envia o documento pelo webchat ou pelo portal (login real via banco).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82112" y="2907792"/>
            <a:ext cx="146304" cy="219456"/>
          </a:xfrm>
          <a:prstGeom prst="rightArrow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37560" y="2011680"/>
            <a:ext cx="2651760" cy="2011680"/>
          </a:xfrm>
          <a:prstGeom prst="roundRect">
            <a:avLst>
              <a:gd name="adj" fmla="val 6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66160" y="2240280"/>
            <a:ext cx="457200" cy="457200"/>
          </a:xfrm>
          <a:prstGeom prst="ellipse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1E3D1A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880360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Extração (IA)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218688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B8D9B2"/>
                </a:solidFill>
                <a:latin typeface="Calibri"/>
              </a:rPr>
              <a:t>OCR + NLP lê CNPJ, Razão Social, Capital Social e sócios do documento.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16752" y="2907792"/>
            <a:ext cx="146304" cy="219456"/>
          </a:xfrm>
          <a:prstGeom prst="rightArrow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2200" y="2011680"/>
            <a:ext cx="2651760" cy="2011680"/>
          </a:xfrm>
          <a:prstGeom prst="roundRect">
            <a:avLst>
              <a:gd name="adj" fmla="val 6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0" y="2240280"/>
            <a:ext cx="457200" cy="457200"/>
          </a:xfrm>
          <a:prstGeom prst="ellipse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1E3D1A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80360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Confirmação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218688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B8D9B2"/>
                </a:solidFill>
                <a:latin typeface="Calibri"/>
              </a:rPr>
              <a:t>Usuário revisa os dados extraídos e clica em "Enviar ao Gov.br".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51392" y="2907792"/>
            <a:ext cx="146304" cy="219456"/>
          </a:xfrm>
          <a:prstGeom prst="rightArrow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06840" y="2011680"/>
            <a:ext cx="2651760" cy="2011680"/>
          </a:xfrm>
          <a:prstGeom prst="roundRect">
            <a:avLst>
              <a:gd name="adj" fmla="val 6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35440" y="2240280"/>
            <a:ext cx="457200" cy="457200"/>
          </a:xfrm>
          <a:prstGeom prst="ellipse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1E3D1A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2880360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RPA + Protocolo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3218688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B8D9B2"/>
                </a:solidFill>
                <a:latin typeface="Calibri"/>
              </a:rPr>
              <a:t>Robô preenche o portal e devolve o protocolo, gravado no banco em nuvem.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89120"/>
            <a:ext cx="11155680" cy="960120"/>
          </a:xfrm>
          <a:prstGeom prst="roundRect">
            <a:avLst>
              <a:gd name="adj" fmla="val 5000"/>
            </a:avLst>
          </a:prstGeom>
          <a:solidFill>
            <a:srgbClr val="1833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52628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A9E50"/>
                </a:solidFill>
                <a:latin typeface="Calibri"/>
              </a:rPr>
              <a:t>Dois robôs de RPA no mesmo painel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84632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8D9B2"/>
                </a:solidFill>
                <a:latin typeface="Calibri"/>
              </a:rPr>
              <a:t>Redesim (Node.js/Puppeteer) para abertura de empresa, e Consulta e-CAC (Python/Playwright) para declaração de IR — ambos com confirmação humana antes de agir.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D5A27"/>
                </a:solidFill>
                <a:latin typeface="Calibr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9496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E3D1A"/>
                </a:solidFill>
                <a:latin typeface="Calibri"/>
              </a:rPr>
              <a:t>Go to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7C68"/>
                </a:solidFill>
                <a:latin typeface="Calibri"/>
              </a:rPr>
              <a:t>Estratégia de entrada no mercado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310896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CRITÉRIO D — 5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694944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2D5A27"/>
                </a:solidFill>
                <a:latin typeface="Calibri"/>
              </a:rPr>
              <a:t>3:20 – 3:50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371600" cy="3175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9AA88E"/>
                </a:solidFill>
                <a:latin typeface="Calibri"/>
              </a:rPr>
              <a:t>GovFlow AI — Vídeo-Pitch Startup One (FIAP)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88E"/>
                </a:solidFill>
                <a:latin typeface="Calibri"/>
              </a:rPr>
              <a:t>7/10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74520"/>
            <a:ext cx="53492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0391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3D1A"/>
                </a:solidFill>
                <a:latin typeface="Calibri"/>
              </a:rPr>
              <a:t>Hub Claro / WhatsApp Business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42316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7C68"/>
                </a:solidFill>
                <a:latin typeface="Calibri"/>
              </a:rPr>
              <a:t>Ponto de entrada com distribuição via base corporativa da operadora, sem custo de mídia paga.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874520"/>
            <a:ext cx="53492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20391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3D1A"/>
                </a:solidFill>
                <a:latin typeface="Calibri"/>
              </a:rPr>
              <a:t>Marketing direto (SEO/conteúdo)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42316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7C68"/>
                </a:solidFill>
                <a:latin typeface="Calibri"/>
              </a:rPr>
              <a:t>Conteúdo educativo para buscas como "automação para escritório de contabilidade".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20440"/>
            <a:ext cx="53492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8503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3D1A"/>
                </a:solidFill>
                <a:latin typeface="Calibri"/>
              </a:rPr>
              <a:t>Parcerias institucionais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406908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7C68"/>
                </a:solidFill>
                <a:latin typeface="Calibri"/>
              </a:rPr>
              <a:t>CRCs (Conselhos Regionais de Contabilidade) e sindicatos de classe.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3520440"/>
            <a:ext cx="53492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368503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3D1A"/>
                </a:solidFill>
                <a:latin typeface="Calibri"/>
              </a:rPr>
              <a:t>Programa de indicação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6792" y="406908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B7C68"/>
                </a:solidFill>
                <a:latin typeface="Calibri"/>
              </a:rPr>
              <a:t>Contadores clientes indicam colegas, com benefício em documentos extras.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57800"/>
            <a:ext cx="11155680" cy="868680"/>
          </a:xfrm>
          <a:prstGeom prst="roundRect">
            <a:avLst>
              <a:gd name="adj" fmla="val 6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394960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D5A27"/>
                </a:solidFill>
                <a:latin typeface="Calibri"/>
              </a:rPr>
              <a:t>Promoção de lançamento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7150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11A0F"/>
                </a:solidFill>
                <a:latin typeface="Calibri"/>
              </a:rPr>
              <a:t>Onboarding assistido gratuito para os primeiros 50 escritórios-piloto — acelera a curva de aprendizado e gera early adopters vocais.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9E50"/>
                </a:solidFill>
                <a:latin typeface="Calibr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9496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Road Map — 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B8D9B2"/>
                </a:solidFill>
                <a:latin typeface="Calibri"/>
              </a:rPr>
              <a:t>O que já está pronto e o que vem a seguir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310896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CRITÉRIO E — 5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694944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A4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5A9E50"/>
                </a:solidFill>
                <a:latin typeface="Calibri"/>
              </a:rPr>
              <a:t>3:50 – 4:15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371600" cy="31750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4A6A44"/>
                </a:solidFill>
                <a:latin typeface="Calibri"/>
              </a:rPr>
              <a:t>GovFlow AI — Vídeo-Pitch Startup One (FIAP)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4A6A44"/>
                </a:solidFill>
                <a:latin typeface="Calibri"/>
              </a:rPr>
              <a:t>8/10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74520"/>
            <a:ext cx="11155680" cy="914400"/>
          </a:xfrm>
          <a:prstGeom prst="roundRect">
            <a:avLst>
              <a:gd name="adj" fmla="val 6000"/>
            </a:avLst>
          </a:prstGeom>
          <a:solidFill>
            <a:srgbClr val="1833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11680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A9E50"/>
                </a:solidFill>
                <a:latin typeface="Calibri"/>
              </a:rPr>
              <a:t>Já entregue desde a última fase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8D9B2"/>
                </a:solidFill>
                <a:latin typeface="Calibri"/>
              </a:rPr>
              <a:t>Segundo robô (e-CAC) · Login real via banco · Gestão de usuários/clientes · Histórico com CNPJ/Razão Social · ROI e cota SaaS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7180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1363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WhatsApp Business API real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352044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B8D9B2"/>
                </a:solidFill>
                <a:latin typeface="Calibri"/>
              </a:rPr>
              <a:t>Canal conversacional real — o contrato de eventos já está pronto.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297180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31363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Fila assíncrona real (Redis/BullMQ)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352044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B8D9B2"/>
                </a:solidFill>
                <a:latin typeface="Calibri"/>
              </a:rPr>
              <a:t>No lugar do barramento em memória atual.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1772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47823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Front-end em React/Tailwind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516636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B8D9B2"/>
                </a:solidFill>
                <a:latin typeface="Calibri"/>
              </a:rPr>
              <a:t>Hoje funcional em HTML/JS vanilla.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60" y="461772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244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792" y="47823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Extração de atos societários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516636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B8D9B2"/>
                </a:solidFill>
                <a:latin typeface="Calibri"/>
              </a:rPr>
              <a:t>Além de CNPJ/Razão Social/Capital Social — constituição, alterações, transformação.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D5A27"/>
                </a:solidFill>
                <a:latin typeface="Calibri"/>
              </a:rPr>
              <a:t>GOVFLOW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9496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E3D1A"/>
                </a:solidFill>
                <a:latin typeface="Calibri"/>
              </a:rPr>
              <a:t>Time e Disponibilidade NEXT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7C68"/>
                </a:solidFill>
                <a:latin typeface="Calibri"/>
              </a:rPr>
              <a:t>Quem desenvolveu o GovFlow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310896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CRITÉRIO F — 5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694944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2D5A27"/>
                </a:solidFill>
                <a:latin typeface="Calibri"/>
              </a:rPr>
              <a:t>4:15 – 4:45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1371600" cy="31750"/>
          </a:xfrm>
          <a:prstGeom prst="rect">
            <a:avLst/>
          </a:prstGeom>
          <a:solidFill>
            <a:srgbClr val="2D5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9AA88E"/>
                </a:solidFill>
                <a:latin typeface="Calibri"/>
              </a:rPr>
              <a:t>GovFlow AI — Vídeo-Pitch Startup One (FIAP)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88E"/>
                </a:solidFill>
                <a:latin typeface="Calibri"/>
              </a:rPr>
              <a:t>9/10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37360" y="1828800"/>
            <a:ext cx="301752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48840" y="2148840"/>
            <a:ext cx="2194560" cy="2194560"/>
          </a:xfrm>
          <a:prstGeom prst="ellipse">
            <a:avLst/>
          </a:prstGeom>
          <a:solidFill>
            <a:srgbClr val="DCEFD9"/>
          </a:solidFill>
          <a:ln w="19050">
            <a:solidFill>
              <a:srgbClr val="2D5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3D1A"/>
                </a:solidFill>
                <a:latin typeface="Calibri"/>
              </a:rPr>
              <a:t>[FOTO]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443484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E3D1A"/>
                </a:solidFill>
                <a:latin typeface="Calibri"/>
              </a:rPr>
              <a:t>Pedro Henrique Amancio Lopes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47731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6B7C68"/>
                </a:solidFill>
                <a:latin typeface="Calibri"/>
              </a:rPr>
              <a:t>RM551682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12080" y="1828800"/>
            <a:ext cx="301752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0D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23560" y="2148840"/>
            <a:ext cx="2194560" cy="2194560"/>
          </a:xfrm>
          <a:prstGeom prst="ellipse">
            <a:avLst/>
          </a:prstGeom>
          <a:solidFill>
            <a:srgbClr val="DCEFD9"/>
          </a:solidFill>
          <a:ln w="19050">
            <a:solidFill>
              <a:srgbClr val="2D5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3D1A"/>
                </a:solidFill>
                <a:latin typeface="Calibri"/>
              </a:rPr>
              <a:t>[FOTO]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443484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E3D1A"/>
                </a:solidFill>
                <a:latin typeface="Calibri"/>
              </a:rPr>
              <a:t>Felipe Vazamim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47731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6B7C68"/>
                </a:solidFill>
                <a:latin typeface="Calibri"/>
              </a:rPr>
              <a:t>RM97856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166360"/>
            <a:ext cx="11155680" cy="868680"/>
          </a:xfrm>
          <a:prstGeom prst="roundRect">
            <a:avLst>
              <a:gd name="adj" fmla="val 6000"/>
            </a:avLst>
          </a:prstGeom>
          <a:solidFill>
            <a:srgbClr val="DC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303520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D5A27"/>
                </a:solidFill>
                <a:latin typeface="Calibri"/>
              </a:rPr>
              <a:t>Disponibilidade para o NEXT 2026 (24/10/2026, Arca, São Paulo-SP)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2356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11A0F"/>
                </a:solidFill>
                <a:latin typeface="Calibri"/>
              </a:rPr>
              <a:t>Não, infelizmente não conseguiremos expor no NEXT 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9E50"/>
                </a:solidFill>
                <a:latin typeface="Calibri"/>
              </a:rPr>
              <a:t>CONCLUSÃO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9496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GovFlow AI — Estado Atual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B8D9B2"/>
                </a:solidFill>
                <a:latin typeface="Calibri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384048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2A4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050" b="1">
                <a:solidFill>
                  <a:srgbClr val="5A9E50"/>
                </a:solidFill>
                <a:latin typeface="Calibri"/>
              </a:rPr>
              <a:t>4:45 – 5:00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36192"/>
            <a:ext cx="1371600" cy="31750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4A6A44"/>
                </a:solidFill>
                <a:latin typeface="Calibri"/>
              </a:rPr>
              <a:t>GovFlow AI — Vídeo-Pitch Startup One (FIAP)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4A6A44"/>
                </a:solidFill>
                <a:latin typeface="Calibri"/>
              </a:rPr>
              <a:t>10/10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57400"/>
            <a:ext cx="2651760" cy="50800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108200"/>
            <a:ext cx="2651760" cy="2377440"/>
          </a:xfrm>
          <a:prstGeom prst="rect">
            <a:avLst/>
          </a:prstGeom>
          <a:solidFill>
            <a:srgbClr val="1833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86000"/>
            <a:ext cx="2249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Dois robôs de RPA reais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971800"/>
            <a:ext cx="22494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8D9B2"/>
                </a:solidFill>
                <a:latin typeface="Calibri"/>
              </a:rPr>
              <a:t>Redesim (Puppeteer) e Consulta e-CAC (Playwright), ambos com confirmação humana.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057400"/>
            <a:ext cx="2651760" cy="50800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08200"/>
            <a:ext cx="2651760" cy="2377440"/>
          </a:xfrm>
          <a:prstGeom prst="rect">
            <a:avLst/>
          </a:prstGeom>
          <a:solidFill>
            <a:srgbClr val="1833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86000"/>
            <a:ext cx="2249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Gestão completa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971800"/>
            <a:ext cx="22494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8D9B2"/>
                </a:solidFill>
                <a:latin typeface="Calibri"/>
              </a:rPr>
              <a:t>Usuários por escritório, clientes do e-CAC, histórico com CNPJ/Razão Social.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057400"/>
            <a:ext cx="2651760" cy="50800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2108200"/>
            <a:ext cx="2651760" cy="2377440"/>
          </a:xfrm>
          <a:prstGeom prst="rect">
            <a:avLst/>
          </a:prstGeom>
          <a:solidFill>
            <a:srgbClr val="1833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2286000"/>
            <a:ext cx="2249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Requests reais na nuvem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971800"/>
            <a:ext cx="22494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8D9B2"/>
                </a:solidFill>
                <a:latin typeface="Calibri"/>
              </a:rPr>
              <a:t>Gravação e leitura de dados demonstradas contra o PostgreSQL no Neon.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40" y="2057400"/>
            <a:ext cx="2651760" cy="50800"/>
          </a:xfrm>
          <a:prstGeom prst="rect">
            <a:avLst/>
          </a:prstGeom>
          <a:solidFill>
            <a:srgbClr val="5A9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6840" y="2108200"/>
            <a:ext cx="2651760" cy="2377440"/>
          </a:xfrm>
          <a:prstGeom prst="rect">
            <a:avLst/>
          </a:prstGeom>
          <a:solidFill>
            <a:srgbClr val="1833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8008" y="2286000"/>
            <a:ext cx="2249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Unit economics saudável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8" y="2971800"/>
            <a:ext cx="22494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8D9B2"/>
                </a:solidFill>
                <a:latin typeface="Calibri"/>
              </a:rPr>
              <a:t>LTV/CAC de 15,77× e breakeven operacional no Mês 3.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892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1">
                <a:solidFill>
                  <a:srgbClr val="5A9E50"/>
                </a:solidFill>
                <a:latin typeface="Calibri"/>
              </a:rPr>
              <a:t>GovFlow AI — menos tempo em portal, mais tempo com o cliente. 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