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9601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2A4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>
                <a:solidFill>
                  <a:srgbClr val="5A9E50"/>
                </a:solidFill>
                <a:latin typeface="Calibri"/>
              </a:rPr>
              <a:t>SOLUÇÃO TÉCNICA COMPLETA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8229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GovFlow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8229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B8D9B2"/>
                </a:solidFill>
                <a:latin typeface="Calibri"/>
              </a:rPr>
              <a:t>Vídeo-Pitch Enterprise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8862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8FB089"/>
                </a:solidFill>
                <a:latin typeface="Calibri"/>
              </a:rPr>
              <a:t>Segundo Instrumento Avaliativo do TCC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46320"/>
            <a:ext cx="2011680" cy="31750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74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Automação Inteligente de Processos Governamentais para Contadores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B8D9B2"/>
                </a:solidFill>
                <a:latin typeface="Calibri"/>
              </a:rPr>
              <a:t>Front-end + Back-end + Banco de Dados em Nuvem — dois robôs de RPA reais, ponta a ponta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38100"/>
          </a:xfrm>
          <a:prstGeom prst="rect">
            <a:avLst/>
          </a:prstGeom>
          <a:solidFill>
            <a:srgbClr val="3D7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5A27"/>
                </a:solidFill>
                <a:latin typeface="Calibr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D1A"/>
                </a:solidFill>
                <a:latin typeface="Calibri"/>
              </a:rPr>
              <a:t>O Problema e 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C68"/>
                </a:solidFill>
                <a:latin typeface="Calibri"/>
              </a:rPr>
              <a:t>Automação de ponta a ponta para escritórios de contabilidade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D5A27"/>
                </a:solidFill>
                <a:latin typeface="Calibri"/>
              </a:rPr>
              <a:t>0:00 – 0:35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371600" cy="3175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88E"/>
                </a:solidFill>
                <a:latin typeface="Calibri"/>
              </a:rPr>
              <a:t>GovFlow AI — Vídeo-Pitch Enterprise Challenge (TCC)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88E"/>
                </a:solidFill>
                <a:latin typeface="Calibr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79"/>
            <a:ext cx="5349240" cy="35661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304287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C0392B"/>
                </a:solidFill>
                <a:latin typeface="Calibri"/>
              </a:rPr>
              <a:t>O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7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3D1A"/>
                </a:solidFill>
                <a:latin typeface="Calibri"/>
              </a:rPr>
              <a:t>Roberto, contador PJ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74135"/>
            <a:ext cx="82296" cy="82296"/>
          </a:xfrm>
          <a:prstGeom prst="roundRect">
            <a:avLst>
              <a:gd name="adj" fmla="val 100000"/>
            </a:avLst>
          </a:prstGeom>
          <a:solidFill>
            <a:srgbClr val="6B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291839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11A0F"/>
                </a:solidFill>
                <a:latin typeface="Calibri"/>
              </a:rPr>
              <a:t>Perde boa parte do tempo útil do escritório em trabalho manual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23943"/>
            <a:ext cx="82296" cy="82296"/>
          </a:xfrm>
          <a:prstGeom prst="roundRect">
            <a:avLst>
              <a:gd name="adj" fmla="val 100000"/>
            </a:avLst>
          </a:prstGeom>
          <a:solidFill>
            <a:srgbClr val="6B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" y="4041647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11A0F"/>
                </a:solidFill>
                <a:latin typeface="Calibri"/>
              </a:rPr>
              <a:t>Triagem de documentos, redigitação de dados, protocolo em portais como o Redesim e o e-CAC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873751"/>
            <a:ext cx="82296" cy="82296"/>
          </a:xfrm>
          <a:prstGeom prst="roundRect">
            <a:avLst>
              <a:gd name="adj" fmla="val 100000"/>
            </a:avLst>
          </a:prstGeom>
          <a:solidFill>
            <a:srgbClr val="6B7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791455"/>
            <a:ext cx="4434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11A0F"/>
                </a:solidFill>
                <a:latin typeface="Calibri"/>
              </a:rPr>
              <a:t>Um processo que leva em média 40 minutos por abertura de empresa — e se repete a cada cliente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2011679"/>
            <a:ext cx="5349240" cy="3566160"/>
          </a:xfrm>
          <a:prstGeom prst="roundRect">
            <a:avLst>
              <a:gd name="adj" fmla="val 4500"/>
            </a:avLst>
          </a:prstGeom>
          <a:solidFill>
            <a:srgbClr val="D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75120" y="2304287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50" b="1">
                <a:solidFill>
                  <a:srgbClr val="2D5A27"/>
                </a:solidFill>
                <a:latin typeface="Calibri"/>
              </a:rPr>
              <a:t>A SOLUÇÃO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61487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3D1A"/>
                </a:solidFill>
                <a:latin typeface="Calibri"/>
              </a:rPr>
              <a:t>GovFlow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291839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5A27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291839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11A0F"/>
                </a:solidFill>
                <a:latin typeface="Calibri"/>
              </a:rPr>
              <a:t>Contador envia um documento pelo webchat ou pelo portal — login validado contra o banco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91363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5A27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913631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11A0F"/>
                </a:solidFill>
                <a:latin typeface="Calibri"/>
              </a:rPr>
              <a:t>IA extrai CNPJ, Razão Social e sócios em segundos, direto do documento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535423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5A27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535423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11A0F"/>
                </a:solidFill>
                <a:latin typeface="Calibri"/>
              </a:rPr>
              <a:t>Robô preenche o portal do governo e devolve o protocolo, exibido na própria tela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157215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5A27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5157215"/>
            <a:ext cx="44348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50" b="0" i="0">
                <a:solidFill>
                  <a:srgbClr val="111A0F"/>
                </a:solidFill>
                <a:latin typeface="Calibri"/>
              </a:rPr>
              <a:t>Processo cai de ~40 minutos para poucos minutos, com histórico completo gravado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5A27"/>
                </a:solidFill>
                <a:latin typeface="Calibr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D1A"/>
                </a:solidFill>
                <a:latin typeface="Calibri"/>
              </a:rPr>
              <a:t>Alinhamento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C68"/>
                </a:solidFill>
                <a:latin typeface="Calibri"/>
              </a:rPr>
              <a:t>Consistente com o vídeo-pitch do Startup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D5A27"/>
                </a:solidFill>
                <a:latin typeface="Calibri"/>
              </a:rPr>
              <a:t>0:35 – 1:10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371600" cy="3175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88E"/>
                </a:solidFill>
                <a:latin typeface="Calibri"/>
              </a:rPr>
              <a:t>GovFlow AI — Vídeo-Pitch Enterprise Challenge (TCC)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88E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03119"/>
            <a:ext cx="2606040" cy="508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2153919"/>
            <a:ext cx="260604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23159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5A27"/>
                </a:solidFill>
                <a:latin typeface="Calibri"/>
              </a:rPr>
              <a:t>Freemium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246119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D1A"/>
                </a:solidFill>
                <a:latin typeface="Calibri"/>
              </a:rPr>
              <a:t>Modelo de Receita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675887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C68"/>
                </a:solidFill>
                <a:latin typeface="Calibri"/>
              </a:rPr>
              <a:t>Free (5 docs) + Pro R$299/mês (100 docs)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2103119"/>
            <a:ext cx="2606040" cy="508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2153919"/>
            <a:ext cx="260604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2423159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5A27"/>
                </a:solidFill>
                <a:latin typeface="Calibri"/>
              </a:rPr>
              <a:t>R$ 219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3246119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D1A"/>
                </a:solidFill>
                <a:latin typeface="Calibri"/>
              </a:rPr>
              <a:t>Margem de Contribuição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3675887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C68"/>
                </a:solidFill>
                <a:latin typeface="Calibri"/>
              </a:rPr>
              <a:t>por cliente do plano Pro/mês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103119"/>
            <a:ext cx="2606040" cy="508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2153919"/>
            <a:ext cx="260604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423159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5A27"/>
                </a:solidFill>
                <a:latin typeface="Calibri"/>
              </a:rPr>
              <a:t>15,77×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3246119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D1A"/>
                </a:solidFill>
                <a:latin typeface="Calibri"/>
              </a:rPr>
              <a:t>LTV / CAC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3675887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C68"/>
                </a:solidFill>
                <a:latin typeface="Calibri"/>
              </a:rPr>
              <a:t>saudável — benchmark é &gt; 3×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2103119"/>
            <a:ext cx="2606040" cy="5080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06840" y="2153919"/>
            <a:ext cx="2606040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62872" y="2423159"/>
            <a:ext cx="2148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D5A27"/>
                </a:solidFill>
                <a:latin typeface="Calibri"/>
              </a:rPr>
              <a:t>Mês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3246119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D1A"/>
                </a:solidFill>
                <a:latin typeface="Calibri"/>
              </a:rPr>
              <a:t>Breakeven Operacional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3675887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C68"/>
                </a:solidFill>
                <a:latin typeface="Calibri"/>
              </a:rPr>
              <a:t>18 clientes pagos ativos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5321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6B7C68"/>
                </a:solidFill>
                <a:latin typeface="Calibri"/>
              </a:rPr>
              <a:t>Detalhamento financeiro completo (fluxo de caixa, estrutura de custos) na documentação anexa.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5A27"/>
                </a:solidFill>
                <a:latin typeface="Calibr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D1A"/>
                </a:solidFill>
                <a:latin typeface="Calibri"/>
              </a:rPr>
              <a:t>Funcionalidades Essenciais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C68"/>
                </a:solidFill>
                <a:latin typeface="Calibri"/>
              </a:rPr>
              <a:t>Do upload ao protocolo — fluxo real, sem simulação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D5A27"/>
                </a:solidFill>
                <a:latin typeface="Calibri"/>
              </a:rPr>
              <a:t>1:10 – 1:50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371600" cy="3175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88E"/>
                </a:solidFill>
                <a:latin typeface="Calibri"/>
              </a:rPr>
              <a:t>GovFlow AI — Vídeo-Pitch Enterprise Challenge (TCC)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88E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59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8952" y="2194559"/>
            <a:ext cx="457200" cy="457200"/>
          </a:xfrm>
          <a:prstGeom prst="ellipse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78891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3D1A"/>
                </a:solidFill>
                <a:latin typeface="Calibri"/>
              </a:rPr>
              <a:t>Login único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136391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C68"/>
                </a:solidFill>
                <a:latin typeface="Calibri"/>
              </a:rPr>
              <a:t>SSO real, validado contra a tabela de usuários do banco — dono/membro por escritório.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965959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5424" y="2194559"/>
            <a:ext cx="457200" cy="457200"/>
          </a:xfrm>
          <a:prstGeom prst="ellipse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78891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3D1A"/>
                </a:solidFill>
                <a:latin typeface="Calibri"/>
              </a:rPr>
              <a:t>Upload + OCR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3136391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C68"/>
                </a:solidFill>
                <a:latin typeface="Calibri"/>
              </a:rPr>
              <a:t>Documento lido de verdade por Tesseract + OpenCV — CNPJ, Razão Social, sócios.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965959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11896" y="2194559"/>
            <a:ext cx="457200" cy="457200"/>
          </a:xfrm>
          <a:prstGeom prst="ellipse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2788919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3D1A"/>
                </a:solidFill>
                <a:latin typeface="Calibri"/>
              </a:rPr>
              <a:t>Confirmação humana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3136391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C68"/>
                </a:solidFill>
                <a:latin typeface="Calibri"/>
              </a:rPr>
              <a:t>Usuário revisa os dados extraídos antes de acionar qualquer robô.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9651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952" y="4325110"/>
            <a:ext cx="457200" cy="457200"/>
          </a:xfrm>
          <a:prstGeom prst="ellipse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491947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3D1A"/>
                </a:solidFill>
                <a:latin typeface="Calibri"/>
              </a:rPr>
              <a:t>Protocolo em tela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526694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C68"/>
                </a:solidFill>
                <a:latin typeface="Calibri"/>
              </a:rPr>
              <a:t>O robô preenche o portal e mostra o protocolo gerado na própria página.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409651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35424" y="4325110"/>
            <a:ext cx="457200" cy="457200"/>
          </a:xfrm>
          <a:prstGeom prst="ellipse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35424" y="491947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3D1A"/>
                </a:solidFill>
                <a:latin typeface="Calibri"/>
              </a:rPr>
              <a:t>Histórico completo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526694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C68"/>
                </a:solidFill>
                <a:latin typeface="Calibri"/>
              </a:rPr>
              <a:t>CNPJ, Razão Social, status e tempo de cada automação, gravados e consultáveis.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55864" y="409651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11896" y="4325110"/>
            <a:ext cx="457200" cy="457200"/>
          </a:xfrm>
          <a:prstGeom prst="ellipse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91947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E3D1A"/>
                </a:solidFill>
                <a:latin typeface="Calibri"/>
              </a:rPr>
              <a:t>Segundo robô: e-CAC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5266942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6B7C68"/>
                </a:solidFill>
                <a:latin typeface="Calibri"/>
              </a:rPr>
              <a:t>Gestão de clientes do escritório, cada um com sua consulta de declaração de 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9E50"/>
                </a:solidFill>
                <a:latin typeface="Calibr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Arquitetura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D9B2"/>
                </a:solidFill>
                <a:latin typeface="Calibri"/>
              </a:rPr>
              <a:t>Front-end, back-end e banco de dados — todos reais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A4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5A9E50"/>
                </a:solidFill>
                <a:latin typeface="Calibri"/>
              </a:rPr>
              <a:t>1:50 – 2:20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371600" cy="31750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4A6A44"/>
                </a:solidFill>
                <a:latin typeface="Calibri"/>
              </a:rPr>
              <a:t>GovFlow AI — Vídeo-Pitch Enterprise Challenge (TCC)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6A44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79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244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9455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FRONT-END — HUB DE CONVERGÊNCIA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33471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B8D9B2"/>
                </a:solidFill>
                <a:latin typeface="Calibri"/>
              </a:rPr>
              <a:t>HTML5 / CSS3 / JavaScript  +  Server-Sent Events (tempo real)  +  Webchat, Portal Web (SSO) e painel de Clientes e-CAC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9320" y="3264407"/>
            <a:ext cx="274320" cy="283464"/>
          </a:xfrm>
          <a:prstGeom prst="downArrow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" y="3566159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1E4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74903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BACK-END — APLICAÇÃO (CORE)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87951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B8D9B2"/>
                </a:solidFill>
                <a:latin typeface="Calibri"/>
              </a:rPr>
              <a:t>Node.js/Express (orquestração)  +  Python/FastAPI (OCR: Tesseract + OpenCV)  +  Puppeteer (RPA Redesim) e Playwright/Python (RPA e-CAC)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5989320" y="4818887"/>
            <a:ext cx="274320" cy="283464"/>
          </a:xfrm>
          <a:prstGeom prst="downArrow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5120639"/>
            <a:ext cx="11155680" cy="1234440"/>
          </a:xfrm>
          <a:prstGeom prst="roundRect">
            <a:avLst>
              <a:gd name="adj" fmla="val 5000"/>
            </a:avLst>
          </a:prstGeom>
          <a:solidFill>
            <a:srgbClr val="153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30351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BANCO DE DADOS EM NUVEM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431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B8D9B2"/>
                </a:solidFill>
                <a:latin typeface="Calibri"/>
              </a:rPr>
              <a:t>PostgreSQL — Neon (sa-east-1)  +  Star Schema (1 fato + 5 dimensões)  +  SSL obrigatório  +  tabelas operacionais (usuários, clientes e-CAC)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5A27"/>
                </a:solidFill>
                <a:latin typeface="Calibr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D1A"/>
                </a:solidFill>
                <a:latin typeface="Calibri"/>
              </a:rP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C68"/>
                </a:solidFill>
                <a:latin typeface="Calibri"/>
              </a:rPr>
              <a:t>Tecnologias, linguagens e complexidade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D5A27"/>
                </a:solidFill>
                <a:latin typeface="Calibri"/>
              </a:rPr>
              <a:t>2:20 – 2:45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371600" cy="3175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88E"/>
                </a:solidFill>
                <a:latin typeface="Calibri"/>
              </a:rPr>
              <a:t>GovFlow AI — Vídeo-Pitch Enterprise Challenge (TCC)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88E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59"/>
            <a:ext cx="50800" cy="1874519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3720" y="1965959"/>
            <a:ext cx="3469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48839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D1A"/>
                </a:solidFill>
                <a:latin typeface="Calibri"/>
              </a:rPr>
              <a:t>Linguagem &amp;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24327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JavaScript (Node.js)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71799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Python 3.12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19271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HTML5 / CSS3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1965959"/>
            <a:ext cx="50800" cy="1874519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0192" y="1965959"/>
            <a:ext cx="3469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148839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D1A"/>
                </a:solidFill>
                <a:latin typeface="Calibri"/>
              </a:rPr>
              <a:t>Framework &amp; Middlewares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624327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Express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971799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FastAPI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319271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Multer, CORS, dotenv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5864" y="1965959"/>
            <a:ext cx="50800" cy="1874519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06664" y="1965959"/>
            <a:ext cx="3469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84464" y="2148839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D1A"/>
                </a:solidFill>
                <a:latin typeface="Calibri"/>
              </a:rPr>
              <a:t>IA / 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2624327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Tesseract OCR + OpenCV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4" y="2971799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Extração por Regex + validação de CNPJ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096510"/>
            <a:ext cx="50800" cy="1874519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3720" y="4096510"/>
            <a:ext cx="3469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7939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D1A"/>
                </a:solidFill>
                <a:latin typeface="Calibri"/>
              </a:rPr>
              <a:t>Automação (RPA) — 2 robôs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75487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Puppeteer/Chromium (Redesim)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10235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Playwright/Python (e-CAC)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4096510"/>
            <a:ext cx="50800" cy="1874519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30192" y="4096510"/>
            <a:ext cx="3469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427939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D1A"/>
                </a:solidFill>
                <a:latin typeface="Calibri"/>
              </a:rPr>
              <a:t>Banco de Dados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07992" y="475487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PostgreSQL — Neon (nuvem)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7992" y="510235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Star Schema (1 fato + 5 dimensões)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55864" y="4096510"/>
            <a:ext cx="50800" cy="1874519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06664" y="4096510"/>
            <a:ext cx="3469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427939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3D1A"/>
                </a:solidFill>
                <a:latin typeface="Calibri"/>
              </a:rPr>
              <a:t>Segurança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4464" y="4754878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SSO (Authorization Code + CSRF)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84464" y="5102350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SSL obrigatório no banco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4464" y="5449822"/>
            <a:ext cx="3063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A0F"/>
                </a:solidFill>
                <a:latin typeface="Calibri"/>
              </a:rPr>
              <a:t>•  Isolamento multi-tenant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9E50"/>
                </a:solidFill>
                <a:latin typeface="Calibri"/>
              </a:rPr>
              <a:t>IMPLEMENTAÇÃO TÉCNICA — DESTAQUE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Interação Real com o Banco de Dados em Nuvem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D9B2"/>
                </a:solidFill>
                <a:latin typeface="Calibri"/>
              </a:rPr>
              <a:t>Requests de gravação e leitura, ao vivo, no Neon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A4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5A9E50"/>
                </a:solidFill>
                <a:latin typeface="Calibri"/>
              </a:rPr>
              <a:t>2:45 – 3:55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371600" cy="31750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4A6A44"/>
                </a:solidFill>
                <a:latin typeface="Calibri"/>
              </a:rPr>
              <a:t>GovFlow AI — Vídeo-Pitch Enterprise Challenge (TCC)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6A44"/>
                </a:solidFill>
                <a:latin typeface="Calibr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79"/>
            <a:ext cx="5349240" cy="3749039"/>
          </a:xfrm>
          <a:prstGeom prst="roundRect">
            <a:avLst>
              <a:gd name="adj" fmla="val 4000"/>
            </a:avLst>
          </a:prstGeom>
          <a:solidFill>
            <a:srgbClr val="244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85999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A9E50"/>
                </a:solidFill>
                <a:latin typeface="Calibri"/>
              </a:rPr>
              <a:t>📝  REQUEST DE GRAVAÇÃO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39"/>
            <a:ext cx="4800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Cada etapa do processamento grava uma atualização real no Neon: documento recebido, OCR concluído (já com CNPJ/Razão Social), confirmação, resultado do robô.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51959"/>
            <a:ext cx="4800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—  Demonstração ao vivo: linha da tabela antes e depois do clique em "Enviar ao Gov.br" — a escrita acontece em tempo real, com o protocolo aparecendo nos dois lugares (tela e banco).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011679"/>
            <a:ext cx="5349240" cy="3749039"/>
          </a:xfrm>
          <a:prstGeom prst="roundRect">
            <a:avLst>
              <a:gd name="adj" fmla="val 4000"/>
            </a:avLst>
          </a:prstGeom>
          <a:solidFill>
            <a:srgbClr val="D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285999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D5A27"/>
                </a:solidFill>
                <a:latin typeface="Calibri"/>
              </a:rPr>
              <a:t>🔍  REQUEST DE LEITURA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834639"/>
            <a:ext cx="4800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A0F"/>
                </a:solidFill>
                <a:latin typeface="Calibri"/>
              </a:rPr>
              <a:t>—  Consulta com JOIN entre a tabela fato e as dimensões de Cliente, Canal e Status, executada ao vivo no SQL Editor do Neon.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251959"/>
            <a:ext cx="4800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11A0F"/>
                </a:solidFill>
                <a:latin typeface="Calibri"/>
              </a:rPr>
              <a:t>—  Recupera o tempo economizado — calculado automaticamente pelo próprio banco (coluna GENERATED ALWAYS AS) — e o histórico completo do escritório autenticado.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5A27"/>
                </a:solidFill>
                <a:latin typeface="Calibr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D1A"/>
                </a:solidFill>
                <a:latin typeface="Calibri"/>
              </a:rPr>
              <a:t>Segundo Robô: Consulta e-CAC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C68"/>
                </a:solidFill>
                <a:latin typeface="Calibri"/>
              </a:rPr>
              <a:t>Gestão de clientes do escritório + prova de extração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D5A27"/>
                </a:solidFill>
                <a:latin typeface="Calibri"/>
              </a:rPr>
              <a:t>3:55 – 4:35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371600" cy="3175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88E"/>
                </a:solidFill>
                <a:latin typeface="Calibri"/>
              </a:rPr>
              <a:t>GovFlow AI — Vídeo-Pitch Enterprise Challenge (TCC)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88E"/>
                </a:solidFill>
                <a:latin typeface="Calibri"/>
              </a:rP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59"/>
            <a:ext cx="548640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1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E3D1A"/>
                </a:solidFill>
                <a:latin typeface="Calibri"/>
              </a:rPr>
              <a:t>Painel dedicado no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825495"/>
            <a:ext cx="82296" cy="82296"/>
          </a:xfrm>
          <a:prstGeom prst="roundRect">
            <a:avLst>
              <a:gd name="adj" fmla="val 10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743199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11A0F"/>
                </a:solidFill>
                <a:latin typeface="Calibri"/>
              </a:rPr>
              <a:t>Menu-toggle abre a página "Consulta e-CAC" — CRUD completo de clientes do escritório.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75303"/>
            <a:ext cx="82296" cy="82296"/>
          </a:xfrm>
          <a:prstGeom prst="roundRect">
            <a:avLst>
              <a:gd name="adj" fmla="val 10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493007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11A0F"/>
                </a:solidFill>
                <a:latin typeface="Calibri"/>
              </a:rPr>
              <a:t>Cada cliente tem seu próprio CPF e senha simulada, editável e excluível a qualquer momento.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25111"/>
            <a:ext cx="82296" cy="82296"/>
          </a:xfrm>
          <a:prstGeom prst="roundRect">
            <a:avLst>
              <a:gd name="adj" fmla="val 10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242815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11A0F"/>
                </a:solidFill>
                <a:latin typeface="Calibri"/>
              </a:rPr>
              <a:t>Botão Consultar/Reprocessar dispara o robô Python/Playwright, que loga como aquele cliente específico.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074919"/>
            <a:ext cx="82296" cy="82296"/>
          </a:xfrm>
          <a:prstGeom prst="roundRect">
            <a:avLst>
              <a:gd name="adj" fmla="val 100000"/>
            </a:avLst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992623"/>
            <a:ext cx="45720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i="0">
                <a:solidFill>
                  <a:srgbClr val="111A0F"/>
                </a:solidFill>
                <a:latin typeface="Calibri"/>
              </a:rPr>
              <a:t>Status ao vivo via SSE: Nunca executado → Processando → Sucesso/Erro, sem recarregar a página.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1965959"/>
            <a:ext cx="5166360" cy="3794760"/>
          </a:xfrm>
          <a:prstGeom prst="roundRect">
            <a:avLst>
              <a:gd name="adj" fmla="val 4000"/>
            </a:avLst>
          </a:prstGeom>
          <a:solidFill>
            <a:srgbClr val="1E3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221991"/>
            <a:ext cx="4617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Prova de que a extração é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651759"/>
            <a:ext cx="4617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B8D9B2"/>
                </a:solidFill>
                <a:latin typeface="Calibri"/>
              </a:rPr>
              <a:t>O portal simulado varia a situação da declaração conforme o CPF logado — não existe um resultado fixo no script.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611879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244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721607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Cliente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995927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B8D9B2"/>
                </a:solidFill>
                <a:latin typeface="Calibri"/>
              </a:rPr>
              <a:t>CPF terminado em dígito par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70247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9E50"/>
                </a:solidFill>
                <a:latin typeface="Calibri"/>
              </a:rPr>
              <a:t>2025 · 2024 · 2023 — Regular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4709159"/>
            <a:ext cx="4617720" cy="960120"/>
          </a:xfrm>
          <a:prstGeom prst="roundRect">
            <a:avLst>
              <a:gd name="adj" fmla="val 8000"/>
            </a:avLst>
          </a:prstGeom>
          <a:solidFill>
            <a:srgbClr val="244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4818887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Cliente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5093207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B8D9B2"/>
                </a:solidFill>
                <a:latin typeface="Calibri"/>
              </a:rPr>
              <a:t>CPF terminado em dígito ímpar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367527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D4A017"/>
                </a:solidFill>
                <a:latin typeface="Calibri"/>
              </a:rPr>
              <a:t>2024 — Pendente de Regularização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9E50"/>
                </a:solidFill>
                <a:latin typeface="Calibr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Robôs em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D9B2"/>
                </a:solidFill>
                <a:latin typeface="Calibri"/>
              </a:rPr>
              <a:t>Automação real contra os dois portais — sem dados simulados no resultado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A4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5A9E50"/>
                </a:solidFill>
                <a:latin typeface="Calibri"/>
              </a:rPr>
              <a:t>4:35 – 5:35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371600" cy="31750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4A6A44"/>
                </a:solidFill>
                <a:latin typeface="Calibri"/>
              </a:rPr>
              <a:t>GovFlow AI — Vídeo-Pitch Enterprise Challenge (TCC)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6A44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59"/>
            <a:ext cx="5349240" cy="3794760"/>
          </a:xfrm>
          <a:prstGeom prst="roundRect">
            <a:avLst>
              <a:gd name="adj" fmla="val 3000"/>
            </a:avLst>
          </a:prstGeom>
          <a:solidFill>
            <a:srgbClr val="0E1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5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9E50"/>
                </a:solidFill>
                <a:latin typeface="Calibri"/>
              </a:rPr>
              <a:t>REDESIM — LIVE 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5175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Abrindo navegador...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6323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Preenchendo CNPJ (extraído do documento)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7471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Preenchendo Razão Social (extraída do documento)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19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Adicionando sócio: Pedro Lopes (60%)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9767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Adicionando sócio: Ana Silva (40%)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70915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DE80"/>
                </a:solidFill>
                <a:latin typeface="Consolas"/>
              </a:rPr>
              <a:t>[SYS] Protocolo gerado: NB-2026-701813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2063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DE80"/>
                </a:solidFill>
                <a:latin typeface="Consolas"/>
              </a:rPr>
              <a:t>[SYS] ✅ Exibido na tela do portal + gravado no banco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965959"/>
            <a:ext cx="5349240" cy="3794760"/>
          </a:xfrm>
          <a:prstGeom prst="roundRect">
            <a:avLst>
              <a:gd name="adj" fmla="val 3000"/>
            </a:avLst>
          </a:prstGeom>
          <a:solidFill>
            <a:srgbClr val="0E1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9455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9E50"/>
                </a:solidFill>
                <a:latin typeface="Calibri"/>
              </a:rPr>
              <a:t>E-CAC — LIVE FEED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5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Preenchendo CPF do cliente consultado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6323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Captcha simulado resolvido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1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2FA simulado confirmado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88619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Portal MIR carregado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9767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  -&gt; 2025: Regular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70915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9E62"/>
                </a:solidFill>
                <a:latin typeface="Consolas"/>
              </a:rPr>
              <a:t>[RPA]   -&gt; 2024: Pendente de Regularização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0639"/>
            <a:ext cx="4800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DE80"/>
                </a:solidFill>
                <a:latin typeface="Consolas"/>
              </a:rPr>
              <a:t>[SYS] ✅ Consulta concluída — gravado no banco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5A27"/>
                </a:solidFill>
                <a:latin typeface="Calibri"/>
              </a:rPr>
              <a:t>GOVFLOW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E3D1A"/>
                </a:solidFill>
                <a:latin typeface="Calibri"/>
              </a:rPr>
              <a:t>Apresentação do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B7C68"/>
                </a:solidFill>
                <a:latin typeface="Calibri"/>
              </a:rPr>
              <a:t>Quem desenvolveu o GovFlow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C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2D5A27"/>
                </a:solidFill>
                <a:latin typeface="Calibri"/>
              </a:rPr>
              <a:t>5:35 – 6:15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371600" cy="31750"/>
          </a:xfrm>
          <a:prstGeom prst="rect">
            <a:avLst/>
          </a:prstGeom>
          <a:solidFill>
            <a:srgbClr val="2D5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9AA88E"/>
                </a:solidFill>
                <a:latin typeface="Calibri"/>
              </a:rPr>
              <a:t>GovFlow AI — Vídeo-Pitch Enterprise Challenge (TCC)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9AA88E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965959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65960" y="2377439"/>
            <a:ext cx="2286000" cy="2286000"/>
          </a:xfrm>
          <a:prstGeom prst="ellipse">
            <a:avLst/>
          </a:prstGeom>
          <a:solidFill>
            <a:srgbClr val="DCEFD9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D1A"/>
                </a:solidFill>
                <a:latin typeface="Calibri"/>
              </a:rPr>
              <a:t>[FOTO]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937759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E3D1A"/>
                </a:solidFill>
                <a:latin typeface="Calibri"/>
              </a:rPr>
              <a:t>Pedro Henrique Amancio Lopes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330951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B7C68"/>
                </a:solidFill>
                <a:latin typeface="Calibri"/>
              </a:rPr>
              <a:t>RM551682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965959"/>
            <a:ext cx="32918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0DC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15000" y="2377439"/>
            <a:ext cx="2286000" cy="2286000"/>
          </a:xfrm>
          <a:prstGeom prst="ellipse">
            <a:avLst/>
          </a:prstGeom>
          <a:solidFill>
            <a:srgbClr val="DCEFD9"/>
          </a:solidFill>
          <a:ln w="19050">
            <a:solidFill>
              <a:srgbClr val="2D5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E3D1A"/>
                </a:solidFill>
                <a:latin typeface="Calibri"/>
              </a:rPr>
              <a:t>[FOTO]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4937759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E3D1A"/>
                </a:solidFill>
                <a:latin typeface="Calibri"/>
              </a:rPr>
              <a:t>Felipe Vazamim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330951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6B7C68"/>
                </a:solidFill>
                <a:latin typeface="Calibri"/>
              </a:rPr>
              <a:t>RM97856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9E50"/>
                </a:solidFill>
                <a:latin typeface="Calibri"/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Disponibilidade NEXT 2026 e 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70432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8D9B2"/>
                </a:solidFill>
                <a:latin typeface="Calibri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384048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2A4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5A9E50"/>
                </a:solidFill>
                <a:latin typeface="Calibri"/>
              </a:rPr>
              <a:t>6:15 – 7:00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27632"/>
            <a:ext cx="1371600" cy="31750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4A6A44"/>
                </a:solidFill>
                <a:latin typeface="Calibri"/>
              </a:rPr>
              <a:t>GovFlow AI — Vídeo-Pitch Enterprise Challenge (TCC)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4A6A44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65959"/>
            <a:ext cx="11155680" cy="1005840"/>
          </a:xfrm>
          <a:prstGeom prst="roundRect">
            <a:avLst>
              <a:gd name="adj" fmla="val 8000"/>
            </a:avLst>
          </a:prstGeom>
          <a:solidFill>
            <a:srgbClr val="244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30551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9E50"/>
                </a:solidFill>
                <a:latin typeface="Calibri"/>
              </a:rPr>
              <a:t>NEXT 2026 — 24/10/2026, Arca, São Paulo-SP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41447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Não, infelizmente não conseguiremos expor no NEXT 2026.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91839"/>
            <a:ext cx="3566160" cy="50800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342639"/>
            <a:ext cx="3566160" cy="1554480"/>
          </a:xfrm>
          <a:prstGeom prst="rect">
            <a:avLst/>
          </a:prstGeom>
          <a:solidFill>
            <a:srgbClr val="183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3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~90% do MVP funcional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59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B8D9B2"/>
                </a:solidFill>
                <a:latin typeface="Calibri"/>
              </a:rPr>
              <a:t>Dois robôs de RPA, gestão de usuários e clientes, tudo rodando ponta a ponta com programação real.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291839"/>
            <a:ext cx="3566160" cy="50800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3342639"/>
            <a:ext cx="3566160" cy="1554480"/>
          </a:xfrm>
          <a:prstGeom prst="rect">
            <a:avLst/>
          </a:prstGeom>
          <a:solidFill>
            <a:srgbClr val="183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52043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Requests reais na nuvem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023359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B8D9B2"/>
                </a:solidFill>
                <a:latin typeface="Calibri"/>
              </a:rPr>
              <a:t>Gravação e leitura de dados demonstradas ao vivo contra o PostgreSQL no Neon.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3291839"/>
            <a:ext cx="3566160" cy="50800"/>
          </a:xfrm>
          <a:prstGeom prst="rect">
            <a:avLst/>
          </a:prstGeom>
          <a:solidFill>
            <a:srgbClr val="5A9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3342639"/>
            <a:ext cx="3566160" cy="1554480"/>
          </a:xfrm>
          <a:prstGeom prst="rect">
            <a:avLst/>
          </a:prstGeom>
          <a:solidFill>
            <a:srgbClr val="183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52043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Unit economics saudável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23359"/>
            <a:ext cx="3108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B8D9B2"/>
                </a:solidFill>
                <a:latin typeface="Calibri"/>
              </a:rPr>
              <a:t>LTV/CAC de 15,77× e breakeven operacional projetado para o Mês 3.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49239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1">
                <a:solidFill>
                  <a:srgbClr val="5A9E50"/>
                </a:solidFill>
                <a:latin typeface="Calibri"/>
              </a:rPr>
              <a:t>GovFlow AI — menos tempo em portal, mais tempo com o cliente. 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