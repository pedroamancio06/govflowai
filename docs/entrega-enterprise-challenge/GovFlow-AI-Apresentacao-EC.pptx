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4572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4008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1">
                <a:solidFill>
                  <a:srgbClr val="DCEFD9"/>
                </a:solidFill>
                <a:latin typeface="Segoe UI"/>
              </a:rPr>
              <a:t>SOLUÇÃO TÉCNICA COMPLETA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19456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GovFlow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CEFD9"/>
                </a:solidFill>
                <a:latin typeface="Segoe UI"/>
              </a:rPr>
              <a:t>Vídeo-Pitch Enterprise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B9CCB6"/>
                </a:solidFill>
                <a:latin typeface="Segoe UI"/>
              </a:rPr>
              <a:t>Segundo Instrumento Avaliativo do TCC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257800"/>
            <a:ext cx="777240" cy="27432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Automação Inteligente de Processos Governamentais para Contadores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B9CCB6"/>
                </a:solidFill>
                <a:latin typeface="Segoe UI"/>
              </a:rPr>
              <a:t>Front-end + Back-end + Banco de Dados em Nuvem — programação real, ponta a ponta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3D1A"/>
                </a:solidFill>
                <a:latin typeface="Segoe UI"/>
              </a:rPr>
              <a:t>O Problema e 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A6A57"/>
                </a:solidFill>
                <a:latin typeface="Segoe UI"/>
              </a:rPr>
              <a:t>Automação de ponta a ponta para escritórios de contabilidade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49840" y="4114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2D5A27"/>
                </a:solidFill>
                <a:latin typeface="Segoe UI"/>
              </a:rPr>
              <a:t>0:00 – 0:40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2120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A6A57"/>
                </a:solidFill>
                <a:latin typeface="Segoe UI"/>
              </a:rPr>
              <a:t>O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3D1A"/>
                </a:solidFill>
                <a:latin typeface="Segoe UI"/>
              </a:rPr>
              <a:t>Roberto, contador PJ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5A6A57"/>
                </a:solidFill>
                <a:latin typeface="Segoe UI"/>
              </a:rPr>
              <a:t>○  Perde boa parte do tempo útil do escritório em trabalho manual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A6A57"/>
                </a:solidFill>
                <a:latin typeface="Segoe UI"/>
              </a:rPr>
              <a:t>○  Triagem de documentos, redigitação de dados, protocolo em portais como o Redesim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A6A57"/>
                </a:solidFill>
                <a:latin typeface="Segoe UI"/>
              </a:rPr>
              <a:t>○  Um processo que leva em média 40 minutos por abertura de empresa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103120"/>
            <a:ext cx="5394960" cy="3931920"/>
          </a:xfrm>
          <a:prstGeom prst="roundRect">
            <a:avLst>
              <a:gd name="adj" fmla="val 4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331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D5A27"/>
                </a:solidFill>
                <a:latin typeface="Segoe UI"/>
              </a:rPr>
              <a:t>A SOLUÇÃO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7432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3D1A"/>
                </a:solidFill>
                <a:latin typeface="Segoe UI"/>
              </a:rPr>
              <a:t>GovFlow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4612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E3D1A"/>
                </a:solidFill>
                <a:latin typeface="Segoe UI"/>
              </a:rPr>
              <a:t>✓  Contador envia um documento pelo webchat ou pelo portal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E3D1A"/>
                </a:solidFill>
                <a:latin typeface="Segoe UI"/>
              </a:rPr>
              <a:t>✓  IA extrai e valida os dados em segundos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E3D1A"/>
                </a:solidFill>
                <a:latin typeface="Segoe UI"/>
              </a:rPr>
              <a:t>✓  Robô preenche o portal do governo e devolve o protocolo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E3D1A"/>
                </a:solidFill>
                <a:latin typeface="Segoe UI"/>
              </a:rPr>
              <a:t>✓  Processo cai de ~40 minutos para poucos minutos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Vídeo-Pitch Enterprise Challenge (TCC)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3D1A"/>
                </a:solidFill>
                <a:latin typeface="Segoe UI"/>
              </a:rPr>
              <a:t>Alinhamento de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A6A57"/>
                </a:solidFill>
                <a:latin typeface="Segoe UI"/>
              </a:rPr>
              <a:t>Consistente com o vídeo-pitch do Startup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49840" y="4114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2D5A27"/>
                </a:solidFill>
                <a:latin typeface="Segoe UI"/>
              </a:rPr>
              <a:t>0:40 – 1:20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26060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42316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D5A27"/>
                </a:solidFill>
                <a:latin typeface="Segoe UI"/>
              </a:rPr>
              <a:t>Freemium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6324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Modelo de Receita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6576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A57"/>
                </a:solidFill>
                <a:latin typeface="Segoe UI"/>
              </a:rPr>
              <a:t>Free (5 docs) + Pro R$299/mês (100 docs)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148840"/>
            <a:ext cx="26060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214884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42316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D5A27"/>
                </a:solidFill>
                <a:latin typeface="Segoe UI"/>
              </a:rPr>
              <a:t>R$ 219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6324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Margem de Contribuição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A57"/>
                </a:solidFill>
                <a:latin typeface="Segoe UI"/>
              </a:rPr>
              <a:t>por cliente do plano Pro/mês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148840"/>
            <a:ext cx="26060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14884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D5A27"/>
                </a:solidFill>
                <a:latin typeface="Segoe UI"/>
              </a:rPr>
              <a:t>15,77×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06324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LTV / CAC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A57"/>
                </a:solidFill>
                <a:latin typeface="Segoe UI"/>
              </a:rPr>
              <a:t>saudável — benchmark é &gt; 3×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2148840"/>
            <a:ext cx="26060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0" y="214884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242316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D5A27"/>
                </a:solidFill>
                <a:latin typeface="Segoe UI"/>
              </a:rPr>
              <a:t>Mês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06324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Breakeven Operacional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6576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A57"/>
                </a:solidFill>
                <a:latin typeface="Segoe UI"/>
              </a:rPr>
              <a:t>18 clientes pagos ativos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692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5A6A57"/>
                </a:solidFill>
                <a:latin typeface="Segoe UI"/>
              </a:rPr>
              <a:t>Detalhamento financeiro completo (fluxo de caixa, estrutura de custos) na documentação anexa.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Vídeo-Pitch Enterprise Challenge (TCC)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3D1A"/>
                </a:solidFill>
                <a:latin typeface="Segoe UI"/>
              </a:rPr>
              <a:t>Funcionalidades Essenciais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A6A57"/>
                </a:solidFill>
                <a:latin typeface="Segoe UI"/>
              </a:rPr>
              <a:t>Do upload ao protocolo — fluxo real, sem simulação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49840" y="4114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2D5A27"/>
                </a:solidFill>
                <a:latin typeface="Segoe UI"/>
              </a:rPr>
              <a:t>1:20 – 2:20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7" y="2377440"/>
            <a:ext cx="502920" cy="502920"/>
          </a:xfrm>
          <a:prstGeom prst="ellipse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063240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Login único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566160"/>
            <a:ext cx="220370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A57"/>
                </a:solidFill>
                <a:latin typeface="Segoe UI"/>
              </a:rPr>
              <a:t>SSO real, isolamento entre escritórios (multi-tenant).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73551" y="3749039"/>
            <a:ext cx="146305" cy="0"/>
          </a:xfrm>
          <a:prstGeom prst="line">
            <a:avLst/>
          </a:prstGeom>
          <a:ln w="25400">
            <a:solidFill>
              <a:srgbClr val="5A9E5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47288" y="214884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48456" y="2377440"/>
            <a:ext cx="502920" cy="502920"/>
          </a:xfrm>
          <a:prstGeom prst="ellipse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3063240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Upload + OCR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3566160"/>
            <a:ext cx="220370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A57"/>
                </a:solidFill>
                <a:latin typeface="Segoe UI"/>
              </a:rPr>
              <a:t>Documento lido de verdade por Tesseract + OpenCV.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80760" y="3749039"/>
            <a:ext cx="146304" cy="0"/>
          </a:xfrm>
          <a:prstGeom prst="line">
            <a:avLst/>
          </a:prstGeom>
          <a:ln w="25400">
            <a:solidFill>
              <a:srgbClr val="5A9E5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54496" y="214884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55664" y="2377440"/>
            <a:ext cx="502920" cy="502920"/>
          </a:xfrm>
          <a:prstGeom prst="ellipse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063240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Confirmação humana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566160"/>
            <a:ext cx="220370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A57"/>
                </a:solidFill>
                <a:latin typeface="Segoe UI"/>
              </a:rPr>
              <a:t>Usuário revisa os dados antes de acionar o robô.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87968" y="3749039"/>
            <a:ext cx="146304" cy="0"/>
          </a:xfrm>
          <a:prstGeom prst="line">
            <a:avLst/>
          </a:prstGeom>
          <a:ln w="25400">
            <a:solidFill>
              <a:srgbClr val="5A9E5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061704" y="214884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62872" y="2377440"/>
            <a:ext cx="502920" cy="502920"/>
          </a:xfrm>
          <a:prstGeom prst="ellipse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3063240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3D1A"/>
                </a:solidFill>
                <a:latin typeface="Segoe UI"/>
              </a:rPr>
              <a:t>Protocolo real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3566160"/>
            <a:ext cx="220370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A57"/>
                </a:solidFill>
                <a:latin typeface="Segoe UI"/>
              </a:rPr>
              <a:t>Robô preenche o portal e captura o protocolo.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23560"/>
            <a:ext cx="3840480" cy="457200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🎥  DEMONSTRAÇÃO AO VIVO A SEGUIR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Vídeo-Pitch Enterprise Challenge (TCC)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3D1A"/>
                </a:solidFill>
                <a:latin typeface="Segoe UI"/>
              </a:rPr>
              <a:t>Arquitetura da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A6A57"/>
                </a:solidFill>
                <a:latin typeface="Segoe UI"/>
              </a:rPr>
              <a:t>Front-end, back-end e banco de dados — todos reais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49840" y="4114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2D5A27"/>
                </a:solidFill>
                <a:latin typeface="Segoe UI"/>
              </a:rPr>
              <a:t>2:20 – 2:50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FRONT-END — HUB DE CONVERGÊNCIA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DCEFD9"/>
                </a:solidFill>
                <a:latin typeface="Segoe UI"/>
              </a:rPr>
              <a:t>HTML5 / CSS3 / JavaScript  +  Server-Sent Events (tempo real)  +  Webchat e Portal Web (SSO)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3401568"/>
            <a:ext cx="0" cy="301752"/>
          </a:xfrm>
          <a:prstGeom prst="line">
            <a:avLst/>
          </a:prstGeom>
          <a:ln w="31750">
            <a:solidFill>
              <a:srgbClr val="2D5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3730752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3D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822191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BACK-END — APLICAÇÃO (CORE)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187952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Node.js/Express (orquestração)  +  Python/FastAPI (OCR: Tesseract + OpenCV)  +  Puppeteer (RPA)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0760" y="4983480"/>
            <a:ext cx="0" cy="301752"/>
          </a:xfrm>
          <a:prstGeom prst="line">
            <a:avLst/>
          </a:prstGeom>
          <a:ln w="31750">
            <a:solidFill>
              <a:srgbClr val="2D5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5312664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E3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04103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BANCO DE DADOS EM NUVEM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769864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5F5DC"/>
                </a:solidFill>
                <a:latin typeface="Segoe UI"/>
              </a:rPr>
              <a:t>PostgreSQL — Neon (sa-east-1)  +  Star Schema (1 fato + 5 dimensões)  +  SSL obrigatório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Vídeo-Pitch Enterprise Challenge (TCC)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3D1A"/>
                </a:solidFill>
                <a:latin typeface="Segoe UI"/>
              </a:rPr>
              <a:t>Stack Tecnológico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A6A57"/>
                </a:solidFill>
                <a:latin typeface="Segoe UI"/>
              </a:rPr>
              <a:t>Tecnologias, linguagens e complexidade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49840" y="4114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2D5A27"/>
                </a:solidFill>
                <a:latin typeface="Segoe UI"/>
              </a:rPr>
              <a:t>2:50 – 3:20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4942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Linguagem &amp; Runtime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70048"/>
            <a:ext cx="3063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JavaScript (Node.js)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Python 3.12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HTML5 / CSS3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10312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210312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24942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Framework &amp; Middlewares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670048"/>
            <a:ext cx="3063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Express 5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FastAPI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Multer, CORS, dotenv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210312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210312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1" y="224942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IA / OCR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1" y="2670048"/>
            <a:ext cx="3063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Tesseract OCR + OpenCV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Extração por Regex + validação de CNPJ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43484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43484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58114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Automação (RPA)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01768"/>
            <a:ext cx="3063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Puppeteer / Chromium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Tratamento de exceções por categoria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443484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443484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9432" y="458114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Banco de Dados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5001768"/>
            <a:ext cx="3063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PostgreSQL — Neon (nuvem)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Star Schema (1 fato + 5 dimensões)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4434840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4434840"/>
            <a:ext cx="73152" cy="210312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751" y="458114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3D1A"/>
                </a:solidFill>
                <a:latin typeface="Segoe UI"/>
              </a:rPr>
              <a:t>Segurança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1" y="5001768"/>
            <a:ext cx="3063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SSO (Authorization Code + CSRF)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SSL obrigatório na conexão com o banco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11A0F"/>
                </a:solidFill>
                <a:latin typeface="Segoe UI"/>
              </a:rPr>
              <a:t>•  Isolamento multi-tenant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Vídeo-Pitch Enterprise Challenge (TCC)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A9E50"/>
                </a:solidFill>
                <a:latin typeface="Segoe UI"/>
              </a:rPr>
              <a:t>IMPLEMENTAÇÃO TÉCNICA — DESTAQUE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868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Interação Real com o Banco de Dados em Nuvem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49840" y="4114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2D5A27"/>
                </a:solidFill>
                <a:latin typeface="Segoe UI"/>
              </a:rPr>
              <a:t>3:20 – 4:30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57800" cy="4206240"/>
          </a:xfrm>
          <a:prstGeom prst="roundRect">
            <a:avLst>
              <a:gd name="adj" fmla="val 5000"/>
            </a:avLst>
          </a:prstGeom>
          <a:solidFill>
            <a:srgbClr val="244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A9E50"/>
                </a:solidFill>
                <a:latin typeface="Segoe UI"/>
              </a:rPr>
              <a:t>📝  REQUEST DE GRAVAÇÃO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709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350" b="0">
                <a:solidFill>
                  <a:srgbClr val="F5F5DC"/>
                </a:solidFill>
                <a:latin typeface="Segoe UI"/>
              </a:rPr>
              <a:t>—  Cada etapa do processamento grava uma atualização real no Neon: documento recebido, OCR concluído, confirmação, resultado do robô.</a:t>
            </a:r>
          </a:p>
          <a:p>
            <a:pPr>
              <a:spcAft>
                <a:spcPts val="1600"/>
              </a:spcAft>
            </a:pPr>
            <a:r>
              <a:rPr sz="1350" b="0">
                <a:solidFill>
                  <a:srgbClr val="F5F5DC"/>
                </a:solidFill>
                <a:latin typeface="Segoe UI"/>
              </a:rPr>
              <a:t>—  Demonstração ao vivo: contagem de linhas da tabela antes e depois do envio, mostrando a escrita acontecendo em tempo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D5A27"/>
                </a:solidFill>
                <a:latin typeface="Segoe UI"/>
              </a:rPr>
              <a:t>🔍  REQUEST DE LEITURA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51460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350" b="0">
                <a:solidFill>
                  <a:srgbClr val="1E3D1A"/>
                </a:solidFill>
                <a:latin typeface="Segoe UI"/>
              </a:rPr>
              <a:t>—  Consulta com JOIN entre a tabela fato e as dimensões de Cliente, Canal e Status, executada ao vivo no SQL Editor do Neon.</a:t>
            </a:r>
          </a:p>
          <a:p>
            <a:pPr>
              <a:spcAft>
                <a:spcPts val="1600"/>
              </a:spcAft>
            </a:pPr>
            <a:r>
              <a:rPr sz="1350" b="0">
                <a:solidFill>
                  <a:srgbClr val="1E3D1A"/>
                </a:solidFill>
                <a:latin typeface="Segoe UI"/>
              </a:rPr>
              <a:t>—  Recupera o tempo economizado — calculado automaticamente pelo próprio banco através de uma coluna gerada (GENERATED ALWAYS AS).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9CCB6"/>
                </a:solidFill>
                <a:latin typeface="Segoe UI"/>
              </a:rPr>
              <a:t>GovFlow AI — Vídeo-Pitch Enterprise Challenge (TCC)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9CCB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3D1A"/>
                </a:solidFill>
                <a:latin typeface="Segoe UI"/>
              </a:rPr>
              <a:t>Robô em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A6A57"/>
                </a:solidFill>
                <a:latin typeface="Segoe UI"/>
              </a:rPr>
              <a:t>Automação real contra o portal — sem dados simulados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49840" y="4114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2D5A27"/>
                </a:solidFill>
                <a:latin typeface="Segoe UI"/>
              </a:rPr>
              <a:t>4:30 – 5:50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10881360" cy="3566160"/>
          </a:xfrm>
          <a:prstGeom prst="roundRect">
            <a:avLst>
              <a:gd name="adj" fmla="val 4000"/>
            </a:avLst>
          </a:prstGeom>
          <a:solidFill>
            <a:srgbClr val="0E1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A9E50"/>
                </a:solidFill>
                <a:latin typeface="Segoe UI"/>
              </a:rPr>
              <a:t>LIVE FEED — RPA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103327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1FAE5"/>
                </a:solidFill>
                <a:latin typeface="Segoe UI"/>
              </a:rPr>
              <a:t>[RPA] Abrindo navegador...</a:t>
            </a:r>
          </a:p>
          <a:p>
            <a:pPr algn="l"/>
            <a:r>
              <a:rPr sz="1300" b="0" i="0">
                <a:solidFill>
                  <a:srgbClr val="D1FAE5"/>
                </a:solidFill>
                <a:latin typeface="Segoe UI"/>
              </a:rPr>
              <a:t>[RPA] Acessando sistema governamental...</a:t>
            </a:r>
          </a:p>
          <a:p>
            <a:pPr algn="l"/>
            <a:r>
              <a:rPr sz="1300" b="0" i="0">
                <a:solidFill>
                  <a:srgbClr val="D1FAE5"/>
                </a:solidFill>
                <a:latin typeface="Segoe UI"/>
              </a:rPr>
              <a:t>[RPA] Autenticando...</a:t>
            </a:r>
          </a:p>
          <a:p>
            <a:pPr algn="l"/>
            <a:r>
              <a:rPr sz="1300" b="0" i="0">
                <a:solidFill>
                  <a:srgbClr val="D1FAE5"/>
                </a:solidFill>
                <a:latin typeface="Segoe UI"/>
              </a:rPr>
              <a:t>[RPA] Preenchendo CNPJ, Razão Social, Capital Social...</a:t>
            </a:r>
          </a:p>
          <a:p>
            <a:pPr algn="l"/>
            <a:r>
              <a:rPr sz="1300" b="0" i="0">
                <a:solidFill>
                  <a:srgbClr val="D1FAE5"/>
                </a:solidFill>
                <a:latin typeface="Segoe UI"/>
              </a:rPr>
              <a:t>[RPA] Adicionando sócio: Pedro Lopes</a:t>
            </a:r>
          </a:p>
          <a:p>
            <a:pPr algn="l"/>
            <a:r>
              <a:rPr sz="1300" b="0" i="0">
                <a:solidFill>
                  <a:srgbClr val="D1FAE5"/>
                </a:solidFill>
                <a:latin typeface="Segoe UI"/>
              </a:rPr>
              <a:t>[RPA] Adicionando sócio: Ana Silva</a:t>
            </a:r>
          </a:p>
          <a:p>
            <a:pPr algn="l"/>
            <a:r>
              <a:rPr sz="1300" b="0" i="0">
                <a:solidFill>
                  <a:srgbClr val="D1FAE5"/>
                </a:solidFill>
                <a:latin typeface="Segoe UI"/>
              </a:rPr>
              <a:t>[SYS] ✅ Protocolo finalizado: NB-2026-XXXXXX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Vídeo-Pitch Enterprise Challenge (TCC)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D7A35"/>
                </a:solidFill>
                <a:latin typeface="Segoe U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3D1A"/>
                </a:solidFill>
                <a:latin typeface="Segoe UI"/>
              </a:rPr>
              <a:t>Apresentação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A6A57"/>
                </a:solidFill>
                <a:latin typeface="Segoe UI"/>
              </a:rPr>
              <a:t>Quem desenvolveu o GovFlow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49840" y="4114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2D5A27"/>
                </a:solidFill>
                <a:latin typeface="Segoe UI"/>
              </a:rPr>
              <a:t>5:50 – 6:40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194560"/>
            <a:ext cx="329184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80360" y="2514600"/>
            <a:ext cx="2286000" cy="2286000"/>
          </a:xfrm>
          <a:prstGeom prst="ellipse">
            <a:avLst/>
          </a:prstGeom>
          <a:solidFill>
            <a:srgbClr val="DCEFD9"/>
          </a:solidFill>
          <a:ln w="19050">
            <a:solidFill>
              <a:srgbClr val="5A9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D5A27"/>
                </a:solidFill>
                <a:latin typeface="Segoe UI"/>
              </a:rPr>
              <a:t>[FOTO]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50749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E3D1A"/>
                </a:solidFill>
                <a:latin typeface="Segoe UI"/>
              </a:rPr>
              <a:t>Pedro Henrique Amancio Lopes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553212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A57"/>
                </a:solidFill>
                <a:latin typeface="Segoe UI"/>
              </a:rPr>
              <a:t>RM551682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94560"/>
            <a:ext cx="329184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8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720840" y="2514600"/>
            <a:ext cx="2286000" cy="2286000"/>
          </a:xfrm>
          <a:prstGeom prst="ellipse">
            <a:avLst/>
          </a:prstGeom>
          <a:solidFill>
            <a:srgbClr val="DCEFD9"/>
          </a:solidFill>
          <a:ln w="19050">
            <a:solidFill>
              <a:srgbClr val="5A9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D5A27"/>
                </a:solidFill>
                <a:latin typeface="Segoe UI"/>
              </a:rPr>
              <a:t>[FOTO]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749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E3D1A"/>
                </a:solidFill>
                <a:latin typeface="Segoe UI"/>
              </a:rPr>
              <a:t>Felipe Vazamim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53212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A57"/>
                </a:solidFill>
                <a:latin typeface="Segoe UI"/>
              </a:rPr>
              <a:t>RM97856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A6A57"/>
                </a:solidFill>
                <a:latin typeface="Segoe UI"/>
              </a:rPr>
              <a:t>GovFlow AI — Vídeo-Pitch Enterprise Challenge (TCC)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A6A57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A9E50"/>
                </a:solidFill>
                <a:latin typeface="Segoe UI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Disponibilidade NEXT 2026 e Encerramento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05840" cy="41148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49840" y="4114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2D5A27"/>
                </a:solidFill>
                <a:latin typeface="Segoe UI"/>
              </a:rPr>
              <a:t>6:40 – 7:00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0881360" cy="1188720"/>
          </a:xfrm>
          <a:prstGeom prst="roundRect">
            <a:avLst>
              <a:gd name="adj" fmla="val 8000"/>
            </a:avLst>
          </a:prstGeom>
          <a:solidFill>
            <a:srgbClr val="244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A9E50"/>
                </a:solidFill>
                <a:latin typeface="Segoe UI"/>
              </a:rPr>
              <a:t>NEXT 2026 — 24/10/2026, Arca, São Paulo-SP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Não, infelizmente não conseguiremos expor no NEXT 2026.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3520440" cy="2468880"/>
          </a:xfrm>
          <a:prstGeom prst="roundRect">
            <a:avLst>
              <a:gd name="adj" fmla="val 6000"/>
            </a:avLst>
          </a:prstGeom>
          <a:solidFill>
            <a:srgbClr val="244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20440"/>
            <a:ext cx="3520440" cy="64008"/>
          </a:xfrm>
          <a:prstGeom prst="roundRect">
            <a:avLst>
              <a:gd name="adj" fmla="val 50000"/>
            </a:avLst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7947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~80% do MVP 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4340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FE4CC"/>
                </a:solidFill>
                <a:latin typeface="Segoe UI"/>
              </a:rPr>
              <a:t>Front-end, back-end e banco em nuvem já rodam de ponta a ponta com programação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520440"/>
            <a:ext cx="3520440" cy="2468880"/>
          </a:xfrm>
          <a:prstGeom prst="roundRect">
            <a:avLst>
              <a:gd name="adj" fmla="val 6000"/>
            </a:avLst>
          </a:prstGeom>
          <a:solidFill>
            <a:srgbClr val="244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400" y="3520440"/>
            <a:ext cx="3520440" cy="64008"/>
          </a:xfrm>
          <a:prstGeom prst="roundRect">
            <a:avLst>
              <a:gd name="adj" fmla="val 50000"/>
            </a:avLst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7947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Requests reais na nuvem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34340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FE4CC"/>
                </a:solidFill>
                <a:latin typeface="Segoe UI"/>
              </a:rPr>
              <a:t>Gravação e leitura de dados demonstradas ao vivo contra o PostgreSQL no Neon.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3520440"/>
            <a:ext cx="3520440" cy="2468880"/>
          </a:xfrm>
          <a:prstGeom prst="roundRect">
            <a:avLst>
              <a:gd name="adj" fmla="val 6000"/>
            </a:avLst>
          </a:prstGeom>
          <a:solidFill>
            <a:srgbClr val="244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19" y="3520440"/>
            <a:ext cx="3520440" cy="64008"/>
          </a:xfrm>
          <a:prstGeom prst="roundRect">
            <a:avLst>
              <a:gd name="adj" fmla="val 50000"/>
            </a:avLst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37947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Unit economics saudável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434340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FE4CC"/>
                </a:solidFill>
                <a:latin typeface="Segoe UI"/>
              </a:rPr>
              <a:t>LTV/CAC de 15,77× e breakeven operacional projetado para o Mês 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636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1">
                <a:solidFill>
                  <a:srgbClr val="5A9E50"/>
                </a:solidFill>
                <a:latin typeface="Segoe UI"/>
              </a:rPr>
              <a:t>GovFlow AI — menos tempo em portal, mais tempo com o cliente. 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